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One sentence: the team asked me to evaluate two Claude Code plugins, ECC and Graphify, and recommend a workflow. I compared them against plain Claude Code and our current Matt Pocock workflow, with real test runs, not opinions. Total talk: about 30 to 40 minutes including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conclusion first so nobody has to wait. Q1: plain Claude Code is the default; for real feature work, combine Matt Pocock's planning with ECC's building. Q2: from ECC, the build workflow and the rules are worth it; the automation and the huge catalog are not. Q3: Graphify did not help on a repo bigger than ours, and its map has a blind spot for Go. The rest of the talk is how we got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for anyone who missed the earlier workflow presentation: we already use a Matt Pocock based workflow. The lead asked whether ECC or Graphify should change it. Be upfront about the limits: one run per setup, on a test app I built, because of plan limits and no access to production code. That is why the report calls it a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framing slide. These are not three versions of the same thing. Matt Pocock is a small process. ECC is a huge toolbox with its own process, an automation layer and a knowledge catalog. Graphify is a search index for one codebase. So we pick layers, not a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recap, since the team already knows this workflow. Three things to remember for later: it only installs skills, so it is light and safe; its knowledge lives in the repo, shared through git; and its cost grows with the number of tickets, because every ticket gets two reviewer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 calls itself an agent operating system. In practice it is a very large catalog installed all at once. Two numbers matter: only about 14% is relevant to Go and Next.js, and it adds 13.7 thousand tokens to every turn. Also mention risk: one maintainer, and hundreds of files change per release, so behaviour can change between installs.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building blocks. Skills, agents and commands are things Claude or you call. Hooks and rules are the automatic parts: hooks run on every action and can block it; rules are always in context. The gotcha is important for adoption: rules are not installed by the plugin, you copy them, and you cannot choose a subset with the plugin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ECC that actually delivered value. Plan proposes and waits for approval; tdd-workflow writes failing tests first and commits them; code review rates findings by its rules; then you fix. Mention install friction honestly: the documented npx version did not exist, and on Windows the plugin cache broke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minute): open Claude Code in an ECC run folder (for example runs/F2-C2) and type /hooks to show how many hooks are registered. Optionally show .claude/rules/ecc. Talking points: GateGuard denies the first edit of every file until Claude lists importers and quotes the instruction. Claude always resolved it itself; it blocked 34 times and we saw no prevented mistake. The memory point: ECC remembers per laptop, which is different from Matt Pocock's shared repo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290-plus skills, these are the ones relevant to Go plus Next.js. Only tdd-workflow was actually exercised in our runs. Key point: despite the "use proactively" wording, none of the agents started by themselves; you have to ask, for example "use the go-reviewer agent on this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lead is interested in security, so be precise. Skill = checklist during coding. Agent = reviewer after coding, called by name. Both are based on OWASP, the industry-standard list of top web risks. But: neither was exercised in our runs, both lean toward JavaScript, and neither is an ISO audit tool. Suggested next step: run the security-reviewer agent against OWASP Juice Shop, a deliberately vulnerable app, to see what it really catches. Optional DEMO: open agents/security-reviewer.md in the ECC repo to show the OWASP checklist and the severity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Graphify reads the code once and saves a map: every function is a dot and every call is a line. Claude Code is told, through a CLAUDE.md section and two hooks, to ask the map before searching files. The pitch is fewer tokens on big repos. Explain the four commands with the analogies, because the results slides use them. DEMO (1 to 2 minutes): open demo-graph/v1/graphify-out/graph.html (the API folder only, so every function is visible), zoom and click a node; optionally show the full memos-G1/graphify-out/graph.html to show the overall shape. Also show memos-G1/CLAUDE.md to show what graphify claude install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minutes): run mini-kouventa (backend: cd backend; go run . ; frontend: cd frontend; npm run dev; open localhost:3000). Show the inbox, the status tabs, a chat. Then switch to the F2 result, for example the run/F2-C2 branch, and show the Claim button and the red SLA badge. Explain: F1 is a clear ticket; F2 is written like a real product ticket and hides a race condition: two agents clicking Claim at the same moment. Fairness: same start commit, same model, I only answered questions from a fixed answer sheet, and an automated checker sent 10 simultaneous claims per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finding of evaluation A. Even plain Claude Code solved the race condition with a database transaction. So the question becomes: what do the plugins add, and what do they cost? That is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left to right. Plain Claude Code is the efficiency benchmark: 5% usage for both tickets. Between the plugins, ECC used less usage, less time, asked far fewer questions and wrote the most tests. Surprise: ECC is the heavier plugin but the cheaper workflow, because Matt Pocock runs several sessions and two reviewer subagents per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minutes) in the evaluation repo: git show origin/run/F2-C1:backend/handlers/rooms.go and scroll to line 102: Doc(r.PathValue("id")) passes the raw ID from the URL straight to Firestore. Then git show origin/run/F2-C2:backend/handlers/claim.go: line 57 calls validRoomID and line 124 defines it (rejects empty, dot, dot-dot, slash, too long). Optional: frontend/components/ChatList.tsx; F2-C1 line 46 tracks claimingIds as a Set (several claims at once), F2-C2 line 117 uses a single claimingId. "1 of 2" means each setup built two features that take a room ID, and we checked whether each validated it. "Unflagged" means Matt Pocock's two reviewers did not point it out. Test depth: Matt Pocock's F2 tests covered only the rules function, so the handler with the missing ID check was never tested. Nuance: ECC's review did find the two frontend bugs, but our protocol only allowed fixing CRITICAL and HIGH; a real developer would likely have fixed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summary. I started out biased toward Matt Pocock because it was our existing recommendation; the data showed ECC is the better builder on most numbers. Matt Pocock is still clearly better at thinking: it was the only setup that asked about, and got right, the badge rule, and it leaves useful documents in the repo. Neither alone is best, which leads to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ECC came from the workflow and the rules, not from the automation or the catalog. "Tailored" means: edit the copied rules, for example the 50-line function limit and the 80% coverage target, to match what the team wants, because those rules decided how strict ECC was and how it rated review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combines the strengths: Matt Pocock does the thinking (grilling, spec, tickets) only when the ticket needs it; ECC does the building (plan, test-first, review). Install only Matt Pocock's thinking skills so the two TDD styles don't conflict. Be clear: this exact combination was not run as a whole, so it is a pilot, not a mandate. If the team prefers lower risk, the alternative is our current Matt Pocock workflow plus a few ECC reviewer files copied in, with no plugin and no 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to 2 minutes): open the memos app (docker start memos, then localhost:5230). Write a memo and change its visibility to Private and Public. Say: the Save button is the GQ1 flow; the visibility setting is the GQ2 rule; ApplyMemoMutation is the store function that saves a memo's text, attachments and links in one transaction, used by create, edit, comment and import, which is GQ3. Why memos: mini-kouventa is too small for a map to matter; memos is a real Go plus React app, similar to our stack, 10 to 20 times bigger. G1 is the realistic setup; G2 forces Claude to use the graph, which is Graphify's best case, so nobody can say we didn't give it a fair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nine runs answered every key item correctly. So the only place Graphify could win is cost, and it didn't. G1 looks slightly cheaper, but in those runs Claude tried the graph once and then ignored it, so that difference is normal run-to-run variation. When we forced Claude to rely on the graph, it took about 40% longer. Usage was 1 to 3% per question in every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qualitative story. With the default setup, Claude obeyed CLAUDE.md, ran graphify query once, found it too broad, and searched normally. With the forced setup it used the precise commands, but kept hitting missing links. The scary one is GQ3: Graphify says changing ApplyMemoMutation affects nothing, while it really affects 3 direct callers and 6 features. Claude caught it; a human trusting the tool might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minutes), in memos-G1: open server/api/v1/memo_service.go at lines 236 to 253. GetMemo does three things: parse the ID (line 237), load the memo (line 241), check access (line 251). Then run: graphify explain v1_apiv1service_getmemo. The output lists only one call: ExtractMemoUIDFromName. The database load and the security check are missing. Optional: graphify explain v1_apiv1service_checkmemoreadaccess shows no callers, although it has 10. Optional: graphify affected store_store_applymemomutation says "No affected nodes found". Honest caveat for Q&amp;A: the map does record some method calls (for example UpdateMemo calling GetMemo), so say "mostly misses", not "always misses". Why it matters: in Go service code, handlers and stores are methods on structs, like RoomHandler.Create in mini-kouventa, so the gap hits exactly where the business logic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costs on my Windows laptop. The first build is fine. The problem is upkeep: a one-line change took 75 seconds and re-read more than half the files, and the map is wrong until you rebuild. On claims: Graphify's README benchmarks measure conversational memory, not coding; its built-in benchmark compares against reading every file in the repo, which no coding agent does, so the savings look huge. Our baseline was real plain Claude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Q3. Not for small repos, not for repos the size of memos, unknown for much bigger ones. Recommendation: don't add it to the workflow. It costs setup, 47 MB of files and an update step, with no measured benefit and a risk of misleading answers. The quick re-test: when Graphify announces Go method support, run graphify affected store_store_applymemomutation on memos at the same commit; it should list 3 callers.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in one slide. Default to plain Claude Code. Add Matt Pocock's thinking skills when the ticket is unclear or too big for one session. Add ECC's build workflow when mistakes are costly. Do not install both full packages: they compete with two planners, two testing philosophies and two reviews. Do not adopt Graphify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one-glance guide for developers. Two questions decide the workflow: is the ticket clear, and how costly is a mistake? Risky means it touches user input, IDs or paths, auth, secrets, money or concurrency. Rule 3 comes from our evidence: ECC rated real UI bugs as MEDIUM, so fix every finding that describes wrong behaviour, whatever its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pilot: our evidence is one run per setup on a test app, and the recommended combination was never run as a whole. So before changing the team doc, try it on real tickets for two weeks with one or two developers. Pick at least one ticket of each kind so every flow gets used. Record a few numbers per ticket in a simple sheet. If all four success criteria hold, update the Helios workflow doc to version 1.2; if not, fall back to the lower-risk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this is evidence, but thin evidence. The direction is clear, the exact percentages are not precise. That is why the recommendation is a pilot. Everything not tested is listed here and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not just use ECC fully?" Its automation and catalog cost context and friction with no benefit we could see, and it has no requirement discovery. "Why not stay with Matt Pocock only?" It is the most expensive and most interrupting, and weaker on tests and validation. "Could Graphify help later?" Yes, if it resolves Go method calls or our repos grow much bigger; the re-test is one command. "How sure are you?" n = 1, so the direction is solid but the exact numbers are not; hence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58"/>
            <a:ext cx="10566400" cy="4218942"/>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2A65A"/>
                </a:solidFill>
                <a:latin typeface="JetBrains Mono" pitchFamily="49" charset="0"/>
                <a:ea typeface="JetBrains Mono" pitchFamily="49" charset="-122"/>
                <a:cs typeface="JetBrains Mono" pitchFamily="49" charset="-120"/>
              </a:rPr>
              <a:t>HELIOS · TECHNICAL RESEARCH · OCTOBER 2026</a:t>
            </a:r>
            <a:endParaRPr lang="en-US" sz="1400" dirty="0"/>
          </a:p>
        </p:txBody>
      </p:sp>
      <p:sp>
        <p:nvSpPr>
          <p:cNvPr id="3" name="Text 1"/>
          <p:cNvSpPr/>
          <p:nvPr>
            <p:ph type="title"/>
          </p:nvPr>
        </p:nvSpPr>
        <p:spPr>
          <a:xfrm>
            <a:off x="812800" y="2585720"/>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5F1"/>
                </a:solidFill>
                <a:latin typeface="IBM Plex Sans" pitchFamily="34" charset="0"/>
                <a:ea typeface="IBM Plex Sans" pitchFamily="34" charset="-122"/>
                <a:cs typeface="IBM Plex Sans" pitchFamily="34" charset="-120"/>
              </a:rPr>
              <a:t>Claude Code plugin evaluation</a:t>
            </a:r>
            <a:endParaRPr lang="en-US" sz="5600" dirty="0"/>
          </a:p>
        </p:txBody>
      </p:sp>
      <p:sp>
        <p:nvSpPr>
          <p:cNvPr id="4" name="Text 2"/>
          <p:cNvSpPr/>
          <p:nvPr/>
        </p:nvSpPr>
        <p:spPr>
          <a:xfrm>
            <a:off x="812800" y="3586480"/>
            <a:ext cx="108833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8C2D0"/>
                </a:solidFill>
                <a:latin typeface="IBM Plex Sans" pitchFamily="34" charset="0"/>
                <a:ea typeface="IBM Plex Sans" pitchFamily="34" charset="-122"/>
                <a:cs typeface="IBM Plex Sans" pitchFamily="34" charset="-120"/>
              </a:rPr>
              <a:t>Everything Claude Code (ECC), Matt Pocock skills and Graphify:</a:t>
            </a:r>
            <a:endParaRPr lang="en-US" sz="2000" dirty="0"/>
          </a:p>
          <a:p>
            <a:pPr algn="l" indent="0" marL="0">
              <a:lnSpc>
                <a:spcPts val="2700"/>
              </a:lnSpc>
              <a:buNone/>
            </a:pPr>
            <a:r>
              <a:rPr lang="en-US" sz="2000" dirty="0">
                <a:solidFill>
                  <a:srgbClr val="B8C2D0"/>
                </a:solidFill>
                <a:latin typeface="IBM Plex Sans" pitchFamily="34" charset="0"/>
                <a:ea typeface="IBM Plex Sans" pitchFamily="34" charset="-122"/>
                <a:cs typeface="IBM Plex Sans" pitchFamily="34" charset="-120"/>
              </a:rPr>
              <a:t>what they are, how we tested them, and what we recommend</a:t>
            </a:r>
            <a:endParaRPr lang="en-US" sz="2000" dirty="0"/>
          </a:p>
        </p:txBody>
      </p:sp>
      <p:sp>
        <p:nvSpPr>
          <p:cNvPr id="5" name="Text 3"/>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0"/>
                </a:solidFill>
                <a:latin typeface="IBM Plex Sans" pitchFamily="34" charset="0"/>
                <a:ea typeface="IBM Plex Sans" pitchFamily="34" charset="-122"/>
                <a:cs typeface="IBM Plex Sans" pitchFamily="34" charset="-120"/>
              </a:rPr>
              <a:t>Hezki · Technical research intern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THE ANSWER UP FRONT</a:t>
            </a:r>
            <a:endParaRPr lang="en-US" sz="1200" dirty="0"/>
          </a:p>
        </p:txBody>
      </p:sp>
      <p:sp>
        <p:nvSpPr>
          <p:cNvPr id="3" name="Text 1"/>
          <p:cNvSpPr/>
          <p:nvPr>
            <p:ph type="title"/>
          </p:nvPr>
        </p:nvSpPr>
        <p:spPr>
          <a:xfrm>
            <a:off x="812800" y="110236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Three questions, three answers</a:t>
            </a:r>
            <a:endParaRPr lang="en-US" sz="3000" dirty="0"/>
          </a:p>
        </p:txBody>
      </p:sp>
      <p:sp>
        <p:nvSpPr>
          <p:cNvPr id="4" name="Shape 2"/>
          <p:cNvSpPr/>
          <p:nvPr/>
        </p:nvSpPr>
        <p:spPr>
          <a:xfrm>
            <a:off x="815975" y="1880235"/>
            <a:ext cx="3380317" cy="3958590"/>
          </a:xfrm>
          <a:prstGeom prst="roundRect">
            <a:avLst>
              <a:gd name="adj" fmla="val 2912"/>
            </a:avLst>
          </a:prstGeom>
          <a:solidFill>
            <a:srgbClr val="FDFCF9"/>
          </a:solidFill>
          <a:ln w="6350">
            <a:solidFill>
              <a:srgbClr val="E2DFD6"/>
            </a:solidFill>
            <a:prstDash val="solid"/>
          </a:ln>
        </p:spPr>
      </p:sp>
      <p:sp>
        <p:nvSpPr>
          <p:cNvPr id="5" name="Text 3"/>
          <p:cNvSpPr/>
          <p:nvPr/>
        </p:nvSpPr>
        <p:spPr>
          <a:xfrm>
            <a:off x="1073150" y="2137410"/>
            <a:ext cx="295194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Q1 · WORKFLOW</a:t>
            </a:r>
            <a:endParaRPr lang="en-US" sz="1300" dirty="0"/>
          </a:p>
        </p:txBody>
      </p:sp>
      <p:sp>
        <p:nvSpPr>
          <p:cNvPr id="6" name="Text 4"/>
          <p:cNvSpPr/>
          <p:nvPr/>
        </p:nvSpPr>
        <p:spPr>
          <a:xfrm>
            <a:off x="1073150" y="2495550"/>
            <a:ext cx="2951946"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Which workflow: Matt Pocock, ECC or a mix?</a:t>
            </a:r>
            <a:endParaRPr lang="en-US" sz="1800" dirty="0"/>
          </a:p>
        </p:txBody>
      </p:sp>
      <p:sp>
        <p:nvSpPr>
          <p:cNvPr id="7" name="Text 5"/>
          <p:cNvSpPr/>
          <p:nvPr/>
        </p:nvSpPr>
        <p:spPr>
          <a:xfrm>
            <a:off x="1073150" y="3171190"/>
            <a:ext cx="2951946"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Default: plain Claude Code.</a:t>
            </a:r>
            <a:r>
              <a:rPr lang="en-US" sz="1400" dirty="0">
                <a:solidFill>
                  <a:srgbClr val="4A5568"/>
                </a:solidFill>
                <a:latin typeface="IBM Plex Sans" pitchFamily="34" charset="0"/>
                <a:ea typeface="IBM Plex Sans" pitchFamily="34" charset="-122"/>
                <a:cs typeface="IBM Plex Sans" pitchFamily="34" charset="-120"/>
              </a:rPr>
              <a:t> For feature work, pilot </a:t>
            </a:r>
            <a:r>
              <a:rPr lang="en-US" sz="1400" b="1" dirty="0">
                <a:solidFill>
                  <a:srgbClr val="16202E"/>
                </a:solidFill>
                <a:latin typeface="IBM Plex Sans" pitchFamily="34" charset="0"/>
                <a:ea typeface="IBM Plex Sans" pitchFamily="34" charset="-122"/>
                <a:cs typeface="IBM Plex Sans" pitchFamily="34" charset="-120"/>
              </a:rPr>
              <a:t>"Matt Pocock thinks, ECC builds"</a:t>
            </a: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8" name="Shape 6"/>
          <p:cNvSpPr/>
          <p:nvPr/>
        </p:nvSpPr>
        <p:spPr>
          <a:xfrm>
            <a:off x="4405842" y="1880235"/>
            <a:ext cx="3380317" cy="3958590"/>
          </a:xfrm>
          <a:prstGeom prst="roundRect">
            <a:avLst>
              <a:gd name="adj" fmla="val 2912"/>
            </a:avLst>
          </a:prstGeom>
          <a:solidFill>
            <a:srgbClr val="FDFCF9"/>
          </a:solidFill>
          <a:ln w="6350">
            <a:solidFill>
              <a:srgbClr val="E2DFD6"/>
            </a:solidFill>
            <a:prstDash val="solid"/>
          </a:ln>
        </p:spPr>
      </p:sp>
      <p:sp>
        <p:nvSpPr>
          <p:cNvPr id="9" name="Text 7"/>
          <p:cNvSpPr/>
          <p:nvPr/>
        </p:nvSpPr>
        <p:spPr>
          <a:xfrm>
            <a:off x="4663017" y="2137410"/>
            <a:ext cx="295194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Q2 · ECC PARTS</a:t>
            </a:r>
            <a:endParaRPr lang="en-US" sz="1300" dirty="0"/>
          </a:p>
        </p:txBody>
      </p:sp>
      <p:sp>
        <p:nvSpPr>
          <p:cNvPr id="10" name="Text 8"/>
          <p:cNvSpPr/>
          <p:nvPr/>
        </p:nvSpPr>
        <p:spPr>
          <a:xfrm>
            <a:off x="4663017" y="2495550"/>
            <a:ext cx="2951946"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Which parts of ECC are worth taking?</a:t>
            </a:r>
            <a:endParaRPr lang="en-US" sz="1800" dirty="0"/>
          </a:p>
        </p:txBody>
      </p:sp>
      <p:sp>
        <p:nvSpPr>
          <p:cNvPr id="11" name="Text 9"/>
          <p:cNvSpPr/>
          <p:nvPr/>
        </p:nvSpPr>
        <p:spPr>
          <a:xfrm>
            <a:off x="4663017" y="3171190"/>
            <a:ext cx="2951946" cy="10210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The build workflow</a:t>
            </a:r>
            <a:r>
              <a:rPr lang="en-US" sz="1400" dirty="0">
                <a:solidFill>
                  <a:srgbClr val="4A5568"/>
                </a:solidFill>
                <a:latin typeface="IBM Plex Sans" pitchFamily="34" charset="0"/>
                <a:ea typeface="IBM Plex Sans" pitchFamily="34" charset="-122"/>
                <a:cs typeface="IBM Plex Sans" pitchFamily="34" charset="-120"/>
              </a:rPr>
              <a:t> (plan → TDD → review) </a:t>
            </a:r>
            <a:r>
              <a:rPr lang="en-US" sz="1400" b="1" dirty="0">
                <a:solidFill>
                  <a:srgbClr val="16202E"/>
                </a:solidFill>
                <a:latin typeface="IBM Plex Sans" pitchFamily="34" charset="0"/>
                <a:ea typeface="IBM Plex Sans" pitchFamily="34" charset="-122"/>
                <a:cs typeface="IBM Plex Sans" pitchFamily="34" charset="-120"/>
              </a:rPr>
              <a:t>+ tailored rules.</a:t>
            </a:r>
            <a:r>
              <a:rPr lang="en-US" sz="1400" dirty="0">
                <a:solidFill>
                  <a:srgbClr val="4A5568"/>
                </a:solidFill>
                <a:latin typeface="IBM Plex Sans" pitchFamily="34" charset="0"/>
                <a:ea typeface="IBM Plex Sans" pitchFamily="34" charset="-122"/>
                <a:cs typeface="IBM Plex Sans" pitchFamily="34" charset="-120"/>
              </a:rPr>
              <a:t> Skip GateGuard, auto-memory and most of the catalog.</a:t>
            </a:r>
            <a:endParaRPr lang="en-US" sz="1400" dirty="0"/>
          </a:p>
        </p:txBody>
      </p:sp>
      <p:sp>
        <p:nvSpPr>
          <p:cNvPr id="12" name="Shape 10"/>
          <p:cNvSpPr/>
          <p:nvPr/>
        </p:nvSpPr>
        <p:spPr>
          <a:xfrm>
            <a:off x="7995708" y="1880235"/>
            <a:ext cx="3380317" cy="3958590"/>
          </a:xfrm>
          <a:prstGeom prst="roundRect">
            <a:avLst>
              <a:gd name="adj" fmla="val 2912"/>
            </a:avLst>
          </a:prstGeom>
          <a:solidFill>
            <a:srgbClr val="FDFCF9"/>
          </a:solidFill>
          <a:ln w="6350">
            <a:solidFill>
              <a:srgbClr val="E2DFD6"/>
            </a:solidFill>
            <a:prstDash val="solid"/>
          </a:ln>
        </p:spPr>
      </p:sp>
      <p:sp>
        <p:nvSpPr>
          <p:cNvPr id="13" name="Text 11"/>
          <p:cNvSpPr/>
          <p:nvPr/>
        </p:nvSpPr>
        <p:spPr>
          <a:xfrm>
            <a:off x="8252883" y="2137410"/>
            <a:ext cx="295194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1A"/>
                </a:solidFill>
                <a:latin typeface="JetBrains Mono" pitchFamily="49" charset="0"/>
                <a:ea typeface="JetBrains Mono" pitchFamily="49" charset="-122"/>
                <a:cs typeface="JetBrains Mono" pitchFamily="49" charset="-120"/>
              </a:rPr>
              <a:t>Q3 · GRAPHIFY</a:t>
            </a:r>
            <a:endParaRPr lang="en-US" sz="1300" dirty="0"/>
          </a:p>
        </p:txBody>
      </p:sp>
      <p:sp>
        <p:nvSpPr>
          <p:cNvPr id="14" name="Text 12"/>
          <p:cNvSpPr/>
          <p:nvPr/>
        </p:nvSpPr>
        <p:spPr>
          <a:xfrm>
            <a:off x="8252883" y="2495550"/>
            <a:ext cx="2951946"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Does Graphify pay off, and at what repo size?</a:t>
            </a:r>
            <a:endParaRPr lang="en-US" sz="1800" dirty="0"/>
          </a:p>
        </p:txBody>
      </p:sp>
      <p:sp>
        <p:nvSpPr>
          <p:cNvPr id="15" name="Text 13"/>
          <p:cNvSpPr/>
          <p:nvPr/>
        </p:nvSpPr>
        <p:spPr>
          <a:xfrm>
            <a:off x="8252883" y="3171190"/>
            <a:ext cx="2951946"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Not at our scale.</a:t>
            </a:r>
            <a:r>
              <a:rPr lang="en-US" sz="1400" dirty="0">
                <a:solidFill>
                  <a:srgbClr val="4A5568"/>
                </a:solidFill>
                <a:latin typeface="IBM Plex Sans" pitchFamily="34" charset="0"/>
                <a:ea typeface="IBM Plex Sans" pitchFamily="34" charset="-122"/>
                <a:cs typeface="IBM Plex Sans" pitchFamily="34" charset="-120"/>
              </a:rPr>
              <a:t> Same accuracy, no saving, misses most Go method calls. </a:t>
            </a:r>
            <a:r>
              <a:rPr lang="en-US" sz="1400" b="1" dirty="0">
                <a:solidFill>
                  <a:srgbClr val="16202E"/>
                </a:solidFill>
                <a:latin typeface="IBM Plex Sans" pitchFamily="34" charset="0"/>
                <a:ea typeface="IBM Plex Sans" pitchFamily="34" charset="-122"/>
                <a:cs typeface="IBM Plex Sans" pitchFamily="34" charset="-120"/>
              </a:rPr>
              <a:t>Don't adopt; re-test later.</a:t>
            </a:r>
            <a:endParaRPr lang="en-US" sz="1400" dirty="0"/>
          </a:p>
        </p:txBody>
      </p:sp>
      <p:sp>
        <p:nvSpPr>
          <p:cNvPr id="16" name="Text 14"/>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Details and evidence on the following slides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BACKGROUND AND GOAL</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Why we did this</a:t>
            </a:r>
            <a:endParaRPr lang="en-US" sz="3000" dirty="0"/>
          </a:p>
        </p:txBody>
      </p:sp>
      <p:sp>
        <p:nvSpPr>
          <p:cNvPr id="4" name="Text 2"/>
          <p:cNvSpPr/>
          <p:nvPr/>
        </p:nvSpPr>
        <p:spPr>
          <a:xfrm>
            <a:off x="812800" y="1826261"/>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Context</a:t>
            </a:r>
            <a:endParaRPr lang="en-US" sz="1800" dirty="0"/>
          </a:p>
        </p:txBody>
      </p:sp>
      <p:sp>
        <p:nvSpPr>
          <p:cNvPr id="5" name="Text 3"/>
          <p:cNvSpPr/>
          <p:nvPr/>
        </p:nvSpPr>
        <p:spPr>
          <a:xfrm>
            <a:off x="891032" y="2227580"/>
            <a:ext cx="5198872" cy="209423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Helios is piloting our Claude Code workflow </a:t>
            </a:r>
            <a:r>
              <a:rPr lang="en-US" sz="1400" b="1" dirty="0">
                <a:solidFill>
                  <a:srgbClr val="16202E"/>
                </a:solidFill>
                <a:latin typeface="IBM Plex Sans" pitchFamily="34" charset="0"/>
                <a:ea typeface="IBM Plex Sans" pitchFamily="34" charset="-122"/>
                <a:cs typeface="IBM Plex Sans" pitchFamily="34" charset="-120"/>
              </a:rPr>
              <a:t>v1.1.2</a:t>
            </a:r>
            <a:r>
              <a:rPr lang="en-US" sz="1400" dirty="0">
                <a:solidFill>
                  <a:srgbClr val="4A5568"/>
                </a:solidFill>
                <a:latin typeface="IBM Plex Sans" pitchFamily="34" charset="0"/>
                <a:ea typeface="IBM Plex Sans" pitchFamily="34" charset="-122"/>
                <a:cs typeface="IBM Plex Sans" pitchFamily="34" charset="-120"/>
              </a:rPr>
              <a:t>, built on </a:t>
            </a:r>
            <a:r>
              <a:rPr lang="en-US" sz="1400" b="1" dirty="0">
                <a:solidFill>
                  <a:srgbClr val="16202E"/>
                </a:solidFill>
                <a:latin typeface="IBM Plex Sans" pitchFamily="34" charset="0"/>
                <a:ea typeface="IBM Plex Sans" pitchFamily="34" charset="-122"/>
                <a:cs typeface="IBM Plex Sans" pitchFamily="34" charset="-120"/>
              </a:rPr>
              <a:t>Matt Pocock's skills</a:t>
            </a:r>
            <a:endParaRPr lang="en-US" sz="1400" dirty="0"/>
          </a:p>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Ask: </a:t>
            </a:r>
            <a:r>
              <a:rPr lang="en-US" sz="1400" b="1" dirty="0">
                <a:solidFill>
                  <a:srgbClr val="16202E"/>
                </a:solidFill>
                <a:latin typeface="IBM Plex Sans" pitchFamily="34" charset="0"/>
                <a:ea typeface="IBM Plex Sans" pitchFamily="34" charset="-122"/>
                <a:cs typeface="IBM Plex Sans" pitchFamily="34" charset="-120"/>
              </a:rPr>
              <a:t>evaluate ECC and Graphify</a:t>
            </a:r>
            <a:r>
              <a:rPr lang="en-US" sz="1400" dirty="0">
                <a:solidFill>
                  <a:srgbClr val="4A5568"/>
                </a:solidFill>
                <a:latin typeface="IBM Plex Sans" pitchFamily="34" charset="0"/>
                <a:ea typeface="IBM Plex Sans" pitchFamily="34" charset="-122"/>
                <a:cs typeface="IBM Plex Sans" pitchFamily="34" charset="-120"/>
              </a:rPr>
              <a:t> and recommend a workflow: "just ECC, just Matt Pocock, or some of ECC added; you decide"</a:t>
            </a:r>
            <a:endParaRPr lang="en-US" sz="1400" dirty="0"/>
          </a:p>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Stack: Next.js · Go · PostgreSQL · Firestore (Kouventa chats)</a:t>
            </a:r>
            <a:endParaRPr lang="en-US" sz="1400" dirty="0"/>
          </a:p>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Goal: </a:t>
            </a:r>
            <a:r>
              <a:rPr lang="en-US" sz="1400" b="1" dirty="0">
                <a:solidFill>
                  <a:srgbClr val="16202E"/>
                </a:solidFill>
                <a:latin typeface="IBM Plex Sans" pitchFamily="34" charset="0"/>
                <a:ea typeface="IBM Plex Sans" pitchFamily="34" charset="-122"/>
                <a:cs typeface="IBM Plex Sans" pitchFamily="34" charset="-120"/>
              </a:rPr>
              <a:t>evidence, not opinion</a:t>
            </a:r>
            <a:r>
              <a:rPr lang="en-US" sz="1400" dirty="0">
                <a:solidFill>
                  <a:srgbClr val="4A5568"/>
                </a:solidFill>
                <a:latin typeface="IBM Plex Sans" pitchFamily="34" charset="0"/>
                <a:ea typeface="IBM Plex Sans" pitchFamily="34" charset="-122"/>
                <a:cs typeface="IBM Plex Sans" pitchFamily="34" charset="-120"/>
              </a:rPr>
              <a:t>; one workflow, what to install, when to use what</a:t>
            </a:r>
            <a:endParaRPr lang="en-US" sz="1400" dirty="0"/>
          </a:p>
        </p:txBody>
      </p:sp>
      <p:sp>
        <p:nvSpPr>
          <p:cNvPr id="6" name="Text 4"/>
          <p:cNvSpPr/>
          <p:nvPr/>
        </p:nvSpPr>
        <p:spPr>
          <a:xfrm>
            <a:off x="6248400" y="1826261"/>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Constraints</a:t>
            </a:r>
            <a:endParaRPr lang="en-US" sz="1800" dirty="0"/>
          </a:p>
        </p:txBody>
      </p:sp>
      <p:sp>
        <p:nvSpPr>
          <p:cNvPr id="7" name="Text 5"/>
          <p:cNvSpPr/>
          <p:nvPr/>
        </p:nvSpPr>
        <p:spPr>
          <a:xfrm>
            <a:off x="6326632" y="2227580"/>
            <a:ext cx="5198872" cy="1319213"/>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Pro plan usage limits → </a:t>
            </a:r>
            <a:r>
              <a:rPr lang="en-US" sz="1400" b="1" dirty="0">
                <a:solidFill>
                  <a:srgbClr val="16202E"/>
                </a:solidFill>
                <a:latin typeface="IBM Plex Sans" pitchFamily="34" charset="0"/>
                <a:ea typeface="IBM Plex Sans" pitchFamily="34" charset="-122"/>
                <a:cs typeface="IBM Plex Sans" pitchFamily="34" charset="-120"/>
              </a:rPr>
              <a:t>1 run per setup per task</a:t>
            </a:r>
            <a:r>
              <a:rPr lang="en-US" sz="1400" dirty="0">
                <a:solidFill>
                  <a:srgbClr val="4A5568"/>
                </a:solidFill>
                <a:latin typeface="IBM Plex Sans" pitchFamily="34" charset="0"/>
                <a:ea typeface="IBM Plex Sans" pitchFamily="34" charset="-122"/>
                <a:cs typeface="IBM Plex Sans" pitchFamily="34" charset="-120"/>
              </a:rPr>
              <a:t> (a case study, n = 1)</a:t>
            </a:r>
            <a:endParaRPr lang="en-US" sz="1400" dirty="0"/>
          </a:p>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No access to the real Helios code → a </a:t>
            </a:r>
            <a:r>
              <a:rPr lang="en-US" sz="1400" b="1" dirty="0">
                <a:solidFill>
                  <a:srgbClr val="16202E"/>
                </a:solidFill>
                <a:latin typeface="IBM Plex Sans" pitchFamily="34" charset="0"/>
                <a:ea typeface="IBM Plex Sans" pitchFamily="34" charset="-122"/>
                <a:cs typeface="IBM Plex Sans" pitchFamily="34" charset="-120"/>
              </a:rPr>
              <a:t>purpose-built test app</a:t>
            </a:r>
            <a:r>
              <a:rPr lang="en-US" sz="1400" dirty="0">
                <a:solidFill>
                  <a:srgbClr val="4A5568"/>
                </a:solidFill>
                <a:latin typeface="IBM Plex Sans" pitchFamily="34" charset="0"/>
                <a:ea typeface="IBM Plex Sans" pitchFamily="34" charset="-122"/>
                <a:cs typeface="IBM Plex Sans" pitchFamily="34" charset="-120"/>
              </a:rPr>
              <a:t> plus an </a:t>
            </a:r>
            <a:r>
              <a:rPr lang="en-US" sz="1400" b="1" dirty="0">
                <a:solidFill>
                  <a:srgbClr val="16202E"/>
                </a:solidFill>
                <a:latin typeface="IBM Plex Sans" pitchFamily="34" charset="0"/>
                <a:ea typeface="IBM Plex Sans" pitchFamily="34" charset="-122"/>
                <a:cs typeface="IBM Plex Sans" pitchFamily="34" charset="-120"/>
              </a:rPr>
              <a:t>open-source repo</a:t>
            </a:r>
            <a:endParaRPr lang="en-US" sz="1400" dirty="0"/>
          </a:p>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Every claim tied to a measurement, or marked </a:t>
            </a:r>
            <a:r>
              <a:rPr lang="en-US" sz="1400" b="1" dirty="0">
                <a:solidFill>
                  <a:srgbClr val="16202E"/>
                </a:solidFill>
                <a:latin typeface="IBM Plex Sans" pitchFamily="34" charset="0"/>
                <a:ea typeface="IBM Plex Sans" pitchFamily="34" charset="-122"/>
                <a:cs typeface="IBM Plex Sans" pitchFamily="34" charset="-120"/>
              </a:rPr>
              <a:t>untested</a:t>
            </a:r>
            <a:endParaRPr lang="en-US" sz="1400" dirty="0"/>
          </a:p>
        </p:txBody>
      </p:sp>
      <p:sp>
        <p:nvSpPr>
          <p:cNvPr id="8" name="Text 6"/>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Q1 workflow · Q2 ECC parts · Q3 Graphify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THE TOOLS AT A GLANCE</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Three tools, three different layers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8961"/>
          <a:ext cx="10553700" cy="2823845"/>
        </p:xfrm>
        <a:graphic>
          <a:graphicData uri="http://schemas.openxmlformats.org/drawingml/2006/table">
            <a:tbl>
              <a:tblPr/>
              <a:tblGrid>
                <a:gridCol w="2321814"/>
                <a:gridCol w="2743962"/>
                <a:gridCol w="2955036"/>
                <a:gridCol w="2532888"/>
              </a:tblGrid>
              <a:tr h="372745">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Layer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Matt Pocock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ECC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Graphify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61277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Process</a:t>
                      </a:r>
                      <a:endParaRPr lang="en-US" sz="1350" dirty="0">
                        <a:latin typeface="IBM Plex Sans" charset="0"/>
                        <a:ea typeface="IBM Plex Sans" charset="0"/>
                        <a:cs typeface="IBM Plex Sans" charset="0"/>
                      </a:endParaRPr>
                    </a:p>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in what order we work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grill → spec → tickets → TDD → review</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plan → TDD → review</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none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1277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Automation</a:t>
                      </a:r>
                      <a:endParaRPr lang="en-US" sz="1350" dirty="0">
                        <a:latin typeface="IBM Plex Sans" charset="0"/>
                        <a:ea typeface="IBM Plex Sans" charset="0"/>
                        <a:cs typeface="IBM Plex Sans" charset="0"/>
                      </a:endParaRPr>
                    </a:p>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what runs by itself</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none by default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hooks: GateGuard, config protection, format, memory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hooks that nudge Claude to the graph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61277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Knowledge</a:t>
                      </a:r>
                      <a:endParaRPr lang="en-US" sz="1350" dirty="0">
                        <a:latin typeface="IBM Plex Sans" charset="0"/>
                        <a:ea typeface="IBM Plex Sans" charset="0"/>
                        <a:cs typeface="IBM Plex Sans" charset="0"/>
                      </a:endParaRPr>
                    </a:p>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what the agent knows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glossary + decisions in the repo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292 skills, 68 agents, rule packs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a map of this codebase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1277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Footprint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~24 skills, +0.5k tokens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huge catalog, +13.7k tokens per turn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47 MB of files per repo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
        <p:nvSpPr>
          <p:cNvPr id="5" name="Text 2"/>
          <p:cNvSpPr/>
          <p:nvPr/>
        </p:nvSpPr>
        <p:spPr>
          <a:xfrm>
            <a:off x="812800" y="4967605"/>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6202E"/>
                </a:solidFill>
                <a:latin typeface="IBM Plex Sans" pitchFamily="34" charset="0"/>
                <a:ea typeface="IBM Plex Sans" pitchFamily="34" charset="-122"/>
                <a:cs typeface="IBM Plex Sans" pitchFamily="34" charset="-120"/>
              </a:rPr>
              <a:t>The real question: </a:t>
            </a:r>
            <a:r>
              <a:rPr lang="en-US" sz="1600" b="1" dirty="0">
                <a:solidFill>
                  <a:srgbClr val="16202E"/>
                </a:solidFill>
                <a:latin typeface="IBM Plex Sans" pitchFamily="34" charset="0"/>
                <a:ea typeface="IBM Plex Sans" pitchFamily="34" charset="-122"/>
                <a:cs typeface="IBM Plex Sans" pitchFamily="34" charset="-120"/>
              </a:rPr>
              <a:t>which layers do we want, and from which tool?</a:t>
            </a:r>
            <a:r>
              <a:rPr lang="en-US" sz="1600" dirty="0">
                <a:solidFill>
                  <a:srgbClr val="16202E"/>
                </a:solidFill>
                <a:latin typeface="IBM Plex Sans" pitchFamily="34" charset="0"/>
                <a:ea typeface="IBM Plex Sans" pitchFamily="34" charset="-122"/>
                <a:cs typeface="IBM Plex Sans" pitchFamily="34" charset="-120"/>
              </a:rPr>
              <a:t> Not "which tool wins?"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BASELINE · OUR CURRENT WORKFLOW</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Matt Pocock: a small, opinionated process</a:t>
            </a:r>
            <a:endParaRPr lang="en-US" sz="3000" dirty="0"/>
          </a:p>
        </p:txBody>
      </p:sp>
      <p:sp>
        <p:nvSpPr>
          <p:cNvPr id="4" name="Shape 2"/>
          <p:cNvSpPr/>
          <p:nvPr/>
        </p:nvSpPr>
        <p:spPr>
          <a:xfrm>
            <a:off x="815975" y="1991677"/>
            <a:ext cx="2235200" cy="1089660"/>
          </a:xfrm>
          <a:prstGeom prst="roundRect">
            <a:avLst>
              <a:gd name="adj" fmla="val 9033"/>
            </a:avLst>
          </a:prstGeom>
          <a:solidFill>
            <a:srgbClr val="FDFCF9"/>
          </a:solidFill>
          <a:ln w="6350">
            <a:solidFill>
              <a:srgbClr val="E2DFD6"/>
            </a:solidFill>
            <a:prstDash val="solid"/>
          </a:ln>
        </p:spPr>
      </p:sp>
      <p:sp>
        <p:nvSpPr>
          <p:cNvPr id="5" name="Text 3"/>
          <p:cNvSpPr/>
          <p:nvPr/>
        </p:nvSpPr>
        <p:spPr>
          <a:xfrm>
            <a:off x="996950" y="2172652"/>
            <a:ext cx="19294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/grill-with-docs</a:t>
            </a:r>
            <a:endParaRPr lang="en-US" sz="1300" dirty="0"/>
          </a:p>
        </p:txBody>
      </p:sp>
      <p:sp>
        <p:nvSpPr>
          <p:cNvPr id="6" name="Text 4"/>
          <p:cNvSpPr/>
          <p:nvPr/>
        </p:nvSpPr>
        <p:spPr>
          <a:xfrm>
            <a:off x="996950" y="2454591"/>
            <a:ext cx="192944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Interviews you until requirements are clear</a:t>
            </a:r>
            <a:endParaRPr lang="en-US" sz="1300" dirty="0"/>
          </a:p>
        </p:txBody>
      </p:sp>
      <p:pic>
        <p:nvPicPr>
          <p:cNvPr id="7" name="Image 0" descr="arrow-right">    </p:cNvPr>
          <p:cNvPicPr>
            <a:picLocks noChangeAspect="1"/>
          </p:cNvPicPr>
          <p:nvPr/>
        </p:nvPicPr>
        <p:blipFill>
          <a:blip r:embed="rId1"/>
          <a:srcRect l="0" r="0" t="0" b="0"/>
          <a:stretch/>
        </p:blipFill>
        <p:spPr>
          <a:xfrm>
            <a:off x="3181350" y="2453959"/>
            <a:ext cx="279400" cy="165100"/>
          </a:xfrm>
          <a:prstGeom prst="rect">
            <a:avLst/>
          </a:prstGeom>
        </p:spPr>
      </p:pic>
      <p:sp>
        <p:nvSpPr>
          <p:cNvPr id="8" name="Shape 5"/>
          <p:cNvSpPr/>
          <p:nvPr/>
        </p:nvSpPr>
        <p:spPr>
          <a:xfrm>
            <a:off x="3590925" y="1991677"/>
            <a:ext cx="2235200" cy="1089660"/>
          </a:xfrm>
          <a:prstGeom prst="roundRect">
            <a:avLst>
              <a:gd name="adj" fmla="val 9033"/>
            </a:avLst>
          </a:prstGeom>
          <a:solidFill>
            <a:srgbClr val="FDFCF9"/>
          </a:solidFill>
          <a:ln w="6350">
            <a:solidFill>
              <a:srgbClr val="E2DFD6"/>
            </a:solidFill>
            <a:prstDash val="solid"/>
          </a:ln>
        </p:spPr>
      </p:sp>
      <p:sp>
        <p:nvSpPr>
          <p:cNvPr id="9" name="Text 6"/>
          <p:cNvSpPr/>
          <p:nvPr/>
        </p:nvSpPr>
        <p:spPr>
          <a:xfrm>
            <a:off x="3771900" y="2172652"/>
            <a:ext cx="19294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/to-spec</a:t>
            </a:r>
            <a:endParaRPr lang="en-US" sz="1300" dirty="0"/>
          </a:p>
        </p:txBody>
      </p:sp>
      <p:sp>
        <p:nvSpPr>
          <p:cNvPr id="10" name="Text 7"/>
          <p:cNvSpPr/>
          <p:nvPr/>
        </p:nvSpPr>
        <p:spPr>
          <a:xfrm>
            <a:off x="3771900" y="2454591"/>
            <a:ext cx="192944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Writes the spec: user stories, decisions</a:t>
            </a:r>
            <a:endParaRPr lang="en-US" sz="1300" dirty="0"/>
          </a:p>
        </p:txBody>
      </p:sp>
      <p:pic>
        <p:nvPicPr>
          <p:cNvPr id="11" name="Image 1" descr="arrow-right">    </p:cNvPr>
          <p:cNvPicPr>
            <a:picLocks noChangeAspect="1"/>
          </p:cNvPicPr>
          <p:nvPr/>
        </p:nvPicPr>
        <p:blipFill>
          <a:blip r:embed="rId2"/>
          <a:srcRect l="0" r="0" t="0" b="0"/>
          <a:stretch/>
        </p:blipFill>
        <p:spPr>
          <a:xfrm>
            <a:off x="5956300" y="2453959"/>
            <a:ext cx="279400" cy="165100"/>
          </a:xfrm>
          <a:prstGeom prst="rect">
            <a:avLst/>
          </a:prstGeom>
        </p:spPr>
      </p:pic>
      <p:sp>
        <p:nvSpPr>
          <p:cNvPr id="12" name="Shape 8"/>
          <p:cNvSpPr/>
          <p:nvPr/>
        </p:nvSpPr>
        <p:spPr>
          <a:xfrm>
            <a:off x="6365875" y="1991677"/>
            <a:ext cx="2235200" cy="1089660"/>
          </a:xfrm>
          <a:prstGeom prst="roundRect">
            <a:avLst>
              <a:gd name="adj" fmla="val 9033"/>
            </a:avLst>
          </a:prstGeom>
          <a:solidFill>
            <a:srgbClr val="FDFCF9"/>
          </a:solidFill>
          <a:ln w="6350">
            <a:solidFill>
              <a:srgbClr val="E2DFD6"/>
            </a:solidFill>
            <a:prstDash val="solid"/>
          </a:ln>
        </p:spPr>
      </p:sp>
      <p:sp>
        <p:nvSpPr>
          <p:cNvPr id="13" name="Text 9"/>
          <p:cNvSpPr/>
          <p:nvPr/>
        </p:nvSpPr>
        <p:spPr>
          <a:xfrm>
            <a:off x="6546850" y="2172652"/>
            <a:ext cx="19294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/to-tickets</a:t>
            </a:r>
            <a:endParaRPr lang="en-US" sz="1300" dirty="0"/>
          </a:p>
        </p:txBody>
      </p:sp>
      <p:sp>
        <p:nvSpPr>
          <p:cNvPr id="14" name="Text 10"/>
          <p:cNvSpPr/>
          <p:nvPr/>
        </p:nvSpPr>
        <p:spPr>
          <a:xfrm>
            <a:off x="6546850" y="2454591"/>
            <a:ext cx="192944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Slices it into vertical-slice tickets</a:t>
            </a:r>
            <a:endParaRPr lang="en-US" sz="1300" dirty="0"/>
          </a:p>
        </p:txBody>
      </p:sp>
      <p:pic>
        <p:nvPicPr>
          <p:cNvPr id="15" name="Image 2" descr="arrow-right">    </p:cNvPr>
          <p:cNvPicPr>
            <a:picLocks noChangeAspect="1"/>
          </p:cNvPicPr>
          <p:nvPr/>
        </p:nvPicPr>
        <p:blipFill>
          <a:blip r:embed="rId3"/>
          <a:srcRect l="0" r="0" t="0" b="0"/>
          <a:stretch/>
        </p:blipFill>
        <p:spPr>
          <a:xfrm>
            <a:off x="8731250" y="2453959"/>
            <a:ext cx="279400" cy="165100"/>
          </a:xfrm>
          <a:prstGeom prst="rect">
            <a:avLst/>
          </a:prstGeom>
        </p:spPr>
      </p:pic>
      <p:sp>
        <p:nvSpPr>
          <p:cNvPr id="16" name="Shape 11"/>
          <p:cNvSpPr/>
          <p:nvPr/>
        </p:nvSpPr>
        <p:spPr>
          <a:xfrm>
            <a:off x="9140825" y="1880236"/>
            <a:ext cx="2235200" cy="1312545"/>
          </a:xfrm>
          <a:prstGeom prst="roundRect">
            <a:avLst>
              <a:gd name="adj" fmla="val 7499"/>
            </a:avLst>
          </a:prstGeom>
          <a:solidFill>
            <a:srgbClr val="FDFCF9"/>
          </a:solidFill>
          <a:ln w="6350">
            <a:solidFill>
              <a:srgbClr val="E2DFD6"/>
            </a:solidFill>
            <a:prstDash val="solid"/>
          </a:ln>
        </p:spPr>
      </p:sp>
      <p:sp>
        <p:nvSpPr>
          <p:cNvPr id="17" name="Text 12"/>
          <p:cNvSpPr/>
          <p:nvPr/>
        </p:nvSpPr>
        <p:spPr>
          <a:xfrm>
            <a:off x="9321800" y="2061211"/>
            <a:ext cx="19294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/implement</a:t>
            </a:r>
            <a:endParaRPr lang="en-US" sz="1300" dirty="0"/>
          </a:p>
        </p:txBody>
      </p:sp>
      <p:sp>
        <p:nvSpPr>
          <p:cNvPr id="18" name="Text 13"/>
          <p:cNvSpPr/>
          <p:nvPr/>
        </p:nvSpPr>
        <p:spPr>
          <a:xfrm>
            <a:off x="9321800" y="2343150"/>
            <a:ext cx="1929448"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Per ticket: TDD, then 2 reviewers (Standards + Spec)</a:t>
            </a:r>
            <a:endParaRPr lang="en-US" sz="1300" dirty="0"/>
          </a:p>
        </p:txBody>
      </p:sp>
      <p:sp>
        <p:nvSpPr>
          <p:cNvPr id="19" name="Text 14"/>
          <p:cNvSpPr/>
          <p:nvPr/>
        </p:nvSpPr>
        <p:spPr>
          <a:xfrm>
            <a:off x="812800" y="3551554"/>
            <a:ext cx="3488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Skills only</a:t>
            </a:r>
            <a:endParaRPr lang="en-US" sz="1600" dirty="0"/>
          </a:p>
        </p:txBody>
      </p:sp>
      <p:sp>
        <p:nvSpPr>
          <p:cNvPr id="20" name="Text 15"/>
          <p:cNvSpPr/>
          <p:nvPr/>
        </p:nvSpPr>
        <p:spPr>
          <a:xfrm>
            <a:off x="812800" y="3846196"/>
            <a:ext cx="348826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 hooks, no always-on rules. +0.5k tokens of context. Install: </a:t>
            </a:r>
            <a:r>
              <a:rPr lang="en-US" sz="1300" dirty="0">
                <a:solidFill>
                  <a:srgbClr val="16202E"/>
                </a:solidFill>
                <a:latin typeface="IBM Plex Sans" pitchFamily="34" charset="0"/>
                <a:ea typeface="IBM Plex Sans" pitchFamily="34" charset="-122"/>
                <a:cs typeface="IBM Plex Sans" pitchFamily="34" charset="-120"/>
              </a:rPr>
              <a:t>npx skills@latest add mattpocock/skills</a:t>
            </a:r>
            <a:endParaRPr lang="en-US" sz="1300" dirty="0"/>
          </a:p>
        </p:txBody>
      </p:sp>
      <p:sp>
        <p:nvSpPr>
          <p:cNvPr id="21" name="Text 16"/>
          <p:cNvSpPr/>
          <p:nvPr/>
        </p:nvSpPr>
        <p:spPr>
          <a:xfrm>
            <a:off x="4402667" y="3551554"/>
            <a:ext cx="3488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Knowledge in the repo</a:t>
            </a:r>
            <a:endParaRPr lang="en-US" sz="1600" dirty="0"/>
          </a:p>
        </p:txBody>
      </p:sp>
      <p:sp>
        <p:nvSpPr>
          <p:cNvPr id="22" name="Text 17"/>
          <p:cNvSpPr/>
          <p:nvPr/>
        </p:nvSpPr>
        <p:spPr>
          <a:xfrm>
            <a:off x="4402667" y="3846196"/>
            <a:ext cx="34882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Spec, tickets, CONTEXT.md glossary and decision records, shared through git</a:t>
            </a:r>
            <a:endParaRPr lang="en-US" sz="1300" dirty="0"/>
          </a:p>
        </p:txBody>
      </p:sp>
      <p:sp>
        <p:nvSpPr>
          <p:cNvPr id="23" name="Text 18"/>
          <p:cNvSpPr/>
          <p:nvPr/>
        </p:nvSpPr>
        <p:spPr>
          <a:xfrm>
            <a:off x="7992533" y="3551554"/>
            <a:ext cx="348826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Cost grows with tickets</a:t>
            </a:r>
            <a:endParaRPr lang="en-US" sz="1600" dirty="0"/>
          </a:p>
        </p:txBody>
      </p:sp>
      <p:sp>
        <p:nvSpPr>
          <p:cNvPr id="24" name="Text 19"/>
          <p:cNvSpPr/>
          <p:nvPr/>
        </p:nvSpPr>
        <p:spPr>
          <a:xfrm>
            <a:off x="7992533" y="3846196"/>
            <a:ext cx="34882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Several sessions, plus 2 Opus-level reviewer subagents per ticket</a:t>
            </a:r>
            <a:endParaRPr lang="en-US" sz="1300" dirty="0"/>
          </a:p>
        </p:txBody>
      </p:sp>
      <p:sp>
        <p:nvSpPr>
          <p:cNvPr id="25" name="Text 20"/>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github.com/mattpocock/skills · tested v1.2.3 · tests are written only at pre-agreed "seams"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EVERYTHING CLAUDE CODE (ECC)</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A huge toolbox installed as one plugin</a:t>
            </a:r>
            <a:endParaRPr lang="en-US" sz="3000" dirty="0"/>
          </a:p>
        </p:txBody>
      </p:sp>
      <p:sp>
        <p:nvSpPr>
          <p:cNvPr id="4" name="Shape 2"/>
          <p:cNvSpPr/>
          <p:nvPr/>
        </p:nvSpPr>
        <p:spPr>
          <a:xfrm>
            <a:off x="812800" y="1877061"/>
            <a:ext cx="2489200" cy="1358900"/>
          </a:xfrm>
          <a:prstGeom prst="roundRect">
            <a:avLst>
              <a:gd name="adj" fmla="val 7477"/>
            </a:avLst>
          </a:prstGeom>
          <a:solidFill>
            <a:srgbClr val="16202E"/>
          </a:solidFill>
          <a:ln/>
        </p:spPr>
      </p:sp>
      <p:sp>
        <p:nvSpPr>
          <p:cNvPr id="5" name="Text 3"/>
          <p:cNvSpPr/>
          <p:nvPr/>
        </p:nvSpPr>
        <p:spPr>
          <a:xfrm>
            <a:off x="1041400" y="2105661"/>
            <a:ext cx="20929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IBM Plex Sans" pitchFamily="34" charset="0"/>
                <a:ea typeface="IBM Plex Sans" pitchFamily="34" charset="-122"/>
                <a:cs typeface="IBM Plex Sans" pitchFamily="34" charset="-120"/>
              </a:rPr>
              <a:t>68</a:t>
            </a:r>
            <a:endParaRPr lang="en-US" sz="4800" dirty="0"/>
          </a:p>
        </p:txBody>
      </p:sp>
      <p:sp>
        <p:nvSpPr>
          <p:cNvPr id="6" name="Text 4"/>
          <p:cNvSpPr/>
          <p:nvPr/>
        </p:nvSpPr>
        <p:spPr>
          <a:xfrm>
            <a:off x="1041400" y="2740661"/>
            <a:ext cx="20929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1"/>
                </a:solidFill>
                <a:latin typeface="IBM Plex Sans" pitchFamily="34" charset="0"/>
                <a:ea typeface="IBM Plex Sans" pitchFamily="34" charset="-122"/>
                <a:cs typeface="IBM Plex Sans" pitchFamily="34" charset="-120"/>
              </a:rPr>
              <a:t>agents</a:t>
            </a:r>
            <a:endParaRPr lang="en-US" sz="1500" dirty="0"/>
          </a:p>
        </p:txBody>
      </p:sp>
      <p:sp>
        <p:nvSpPr>
          <p:cNvPr id="7" name="Shape 5"/>
          <p:cNvSpPr/>
          <p:nvPr/>
        </p:nvSpPr>
        <p:spPr>
          <a:xfrm>
            <a:off x="3505200" y="1877061"/>
            <a:ext cx="2489200" cy="1358900"/>
          </a:xfrm>
          <a:prstGeom prst="roundRect">
            <a:avLst>
              <a:gd name="adj" fmla="val 7477"/>
            </a:avLst>
          </a:prstGeom>
          <a:solidFill>
            <a:srgbClr val="16202E"/>
          </a:solidFill>
          <a:ln/>
        </p:spPr>
      </p:sp>
      <p:sp>
        <p:nvSpPr>
          <p:cNvPr id="8" name="Text 6"/>
          <p:cNvSpPr/>
          <p:nvPr/>
        </p:nvSpPr>
        <p:spPr>
          <a:xfrm>
            <a:off x="3733800" y="2105661"/>
            <a:ext cx="20929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IBM Plex Sans" pitchFamily="34" charset="0"/>
                <a:ea typeface="IBM Plex Sans" pitchFamily="34" charset="-122"/>
                <a:cs typeface="IBM Plex Sans" pitchFamily="34" charset="-120"/>
              </a:rPr>
              <a:t>292</a:t>
            </a:r>
            <a:endParaRPr lang="en-US" sz="4800" dirty="0"/>
          </a:p>
        </p:txBody>
      </p:sp>
      <p:sp>
        <p:nvSpPr>
          <p:cNvPr id="9" name="Text 7"/>
          <p:cNvSpPr/>
          <p:nvPr/>
        </p:nvSpPr>
        <p:spPr>
          <a:xfrm>
            <a:off x="3733800" y="2740661"/>
            <a:ext cx="20929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1"/>
                </a:solidFill>
                <a:latin typeface="IBM Plex Sans" pitchFamily="34" charset="0"/>
                <a:ea typeface="IBM Plex Sans" pitchFamily="34" charset="-122"/>
                <a:cs typeface="IBM Plex Sans" pitchFamily="34" charset="-120"/>
              </a:rPr>
              <a:t>skills</a:t>
            </a:r>
            <a:endParaRPr lang="en-US" sz="1500" dirty="0"/>
          </a:p>
        </p:txBody>
      </p:sp>
      <p:sp>
        <p:nvSpPr>
          <p:cNvPr id="10" name="Shape 8"/>
          <p:cNvSpPr/>
          <p:nvPr/>
        </p:nvSpPr>
        <p:spPr>
          <a:xfrm>
            <a:off x="6197600" y="1877061"/>
            <a:ext cx="2489200" cy="1358900"/>
          </a:xfrm>
          <a:prstGeom prst="roundRect">
            <a:avLst>
              <a:gd name="adj" fmla="val 7477"/>
            </a:avLst>
          </a:prstGeom>
          <a:solidFill>
            <a:srgbClr val="16202E"/>
          </a:solidFill>
          <a:ln/>
        </p:spPr>
      </p:sp>
      <p:sp>
        <p:nvSpPr>
          <p:cNvPr id="11" name="Text 9"/>
          <p:cNvSpPr/>
          <p:nvPr/>
        </p:nvSpPr>
        <p:spPr>
          <a:xfrm>
            <a:off x="6426200" y="2105661"/>
            <a:ext cx="20929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IBM Plex Sans" pitchFamily="34" charset="0"/>
                <a:ea typeface="IBM Plex Sans" pitchFamily="34" charset="-122"/>
                <a:cs typeface="IBM Plex Sans" pitchFamily="34" charset="-120"/>
              </a:rPr>
              <a:t>94</a:t>
            </a:r>
            <a:endParaRPr lang="en-US" sz="4800" dirty="0"/>
          </a:p>
        </p:txBody>
      </p:sp>
      <p:sp>
        <p:nvSpPr>
          <p:cNvPr id="12" name="Text 10"/>
          <p:cNvSpPr/>
          <p:nvPr/>
        </p:nvSpPr>
        <p:spPr>
          <a:xfrm>
            <a:off x="6426200" y="2740661"/>
            <a:ext cx="20929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1"/>
                </a:solidFill>
                <a:latin typeface="IBM Plex Sans" pitchFamily="34" charset="0"/>
                <a:ea typeface="IBM Plex Sans" pitchFamily="34" charset="-122"/>
                <a:cs typeface="IBM Plex Sans" pitchFamily="34" charset="-120"/>
              </a:rPr>
              <a:t>commands</a:t>
            </a:r>
            <a:endParaRPr lang="en-US" sz="1500" dirty="0"/>
          </a:p>
        </p:txBody>
      </p:sp>
      <p:sp>
        <p:nvSpPr>
          <p:cNvPr id="13" name="Shape 11"/>
          <p:cNvSpPr/>
          <p:nvPr/>
        </p:nvSpPr>
        <p:spPr>
          <a:xfrm>
            <a:off x="8890000" y="1877061"/>
            <a:ext cx="2489200" cy="1358900"/>
          </a:xfrm>
          <a:prstGeom prst="roundRect">
            <a:avLst>
              <a:gd name="adj" fmla="val 7477"/>
            </a:avLst>
          </a:prstGeom>
          <a:solidFill>
            <a:srgbClr val="16202E"/>
          </a:solidFill>
          <a:ln/>
        </p:spPr>
      </p:sp>
      <p:sp>
        <p:nvSpPr>
          <p:cNvPr id="14" name="Text 12"/>
          <p:cNvSpPr/>
          <p:nvPr/>
        </p:nvSpPr>
        <p:spPr>
          <a:xfrm>
            <a:off x="9118600" y="2105661"/>
            <a:ext cx="20929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IBM Plex Sans" pitchFamily="34" charset="0"/>
                <a:ea typeface="IBM Plex Sans" pitchFamily="34" charset="-122"/>
                <a:cs typeface="IBM Plex Sans" pitchFamily="34" charset="-120"/>
              </a:rPr>
              <a:t>24</a:t>
            </a:r>
            <a:endParaRPr lang="en-US" sz="4800" dirty="0"/>
          </a:p>
        </p:txBody>
      </p:sp>
      <p:sp>
        <p:nvSpPr>
          <p:cNvPr id="15" name="Text 13"/>
          <p:cNvSpPr/>
          <p:nvPr/>
        </p:nvSpPr>
        <p:spPr>
          <a:xfrm>
            <a:off x="9118600" y="2740661"/>
            <a:ext cx="20929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1"/>
                </a:solidFill>
                <a:latin typeface="IBM Plex Sans" pitchFamily="34" charset="0"/>
                <a:ea typeface="IBM Plex Sans" pitchFamily="34" charset="-122"/>
                <a:cs typeface="IBM Plex Sans" pitchFamily="34" charset="-120"/>
              </a:rPr>
              <a:t>automatic hooks</a:t>
            </a:r>
            <a:endParaRPr lang="en-US" sz="1500" dirty="0"/>
          </a:p>
        </p:txBody>
      </p:sp>
      <p:sp>
        <p:nvSpPr>
          <p:cNvPr id="16" name="Text 14"/>
          <p:cNvSpPr/>
          <p:nvPr/>
        </p:nvSpPr>
        <p:spPr>
          <a:xfrm>
            <a:off x="891032" y="3591561"/>
            <a:ext cx="5198872" cy="1059815"/>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Only </a:t>
            </a:r>
            <a:r>
              <a:rPr lang="en-US" sz="1400" b="1" dirty="0">
                <a:solidFill>
                  <a:srgbClr val="16202E"/>
                </a:solidFill>
                <a:latin typeface="IBM Plex Sans" pitchFamily="34" charset="0"/>
                <a:ea typeface="IBM Plex Sans" pitchFamily="34" charset="-122"/>
                <a:cs typeface="IBM Plex Sans" pitchFamily="34" charset="-120"/>
              </a:rPr>
              <a:t>~14% relevant</a:t>
            </a:r>
            <a:r>
              <a:rPr lang="en-US" sz="1400" dirty="0">
                <a:solidFill>
                  <a:srgbClr val="4A5568"/>
                </a:solidFill>
                <a:latin typeface="IBM Plex Sans" pitchFamily="34" charset="0"/>
                <a:ea typeface="IBM Plex Sans" pitchFamily="34" charset="-122"/>
                <a:cs typeface="IBM Plex Sans" pitchFamily="34" charset="-120"/>
              </a:rPr>
              <a:t> to our stack; the rest covers other languages and non-coding topics</a:t>
            </a:r>
            <a:endParaRPr lang="en-US" sz="1400" dirty="0"/>
          </a:p>
          <a:p>
            <a:pPr algn="l" marL="175768" indent="-175768">
              <a:lnSpc>
                <a:spcPts val="2030"/>
              </a:lnSpc>
              <a:buSzPct val="100000"/>
              <a:buChar char="•"/>
            </a:pPr>
            <a:r>
              <a:rPr lang="en-US" sz="1400" dirty="0">
                <a:solidFill>
                  <a:srgbClr val="4A5568"/>
                </a:solidFill>
                <a:latin typeface="IBM Plex Sans" pitchFamily="34" charset="0"/>
                <a:ea typeface="IBM Plex Sans" pitchFamily="34" charset="-122"/>
                <a:cs typeface="IBM Plex Sans" pitchFamily="34" charset="-120"/>
              </a:rPr>
              <a:t>Costs </a:t>
            </a:r>
            <a:r>
              <a:rPr lang="en-US" sz="1400" b="1" dirty="0">
                <a:solidFill>
                  <a:srgbClr val="16202E"/>
                </a:solidFill>
                <a:latin typeface="IBM Plex Sans" pitchFamily="34" charset="0"/>
                <a:ea typeface="IBM Plex Sans" pitchFamily="34" charset="-122"/>
                <a:cs typeface="IBM Plex Sans" pitchFamily="34" charset="-120"/>
              </a:rPr>
              <a:t>+13.7k tokens every turn</a:t>
            </a:r>
            <a:r>
              <a:rPr lang="en-US" sz="1400" dirty="0">
                <a:solidFill>
                  <a:srgbClr val="4A5568"/>
                </a:solidFill>
                <a:latin typeface="IBM Plex Sans" pitchFamily="34" charset="0"/>
                <a:ea typeface="IBM Plex Sans" pitchFamily="34" charset="-122"/>
                <a:cs typeface="IBM Plex Sans" pitchFamily="34" charset="-120"/>
              </a:rPr>
              <a:t> before any work (Matt Pocock: +0.5k)</a:t>
            </a:r>
            <a:endParaRPr lang="en-US" sz="1400" dirty="0"/>
          </a:p>
        </p:txBody>
      </p:sp>
      <p:sp>
        <p:nvSpPr>
          <p:cNvPr id="17" name="Text 15"/>
          <p:cNvSpPr/>
          <p:nvPr/>
        </p:nvSpPr>
        <p:spPr>
          <a:xfrm>
            <a:off x="6326632" y="3591561"/>
            <a:ext cx="5198872" cy="1059815"/>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Single maintainer</a:t>
            </a:r>
            <a:r>
              <a:rPr lang="en-US" sz="1400" dirty="0">
                <a:solidFill>
                  <a:srgbClr val="4A5568"/>
                </a:solidFill>
                <a:latin typeface="IBM Plex Sans" pitchFamily="34" charset="0"/>
                <a:ea typeface="IBM Plex Sans" pitchFamily="34" charset="-122"/>
                <a:cs typeface="IBM Plex Sans" pitchFamily="34" charset="-120"/>
              </a:rPr>
              <a:t>, plus a paid tier (ECC Pro)</a:t>
            </a:r>
            <a:endParaRPr lang="en-US" sz="1400" dirty="0"/>
          </a:p>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Very fast churn:</a:t>
            </a:r>
            <a:r>
              <a:rPr lang="en-US" sz="1400" dirty="0">
                <a:solidFill>
                  <a:srgbClr val="4A5568"/>
                </a:solidFill>
                <a:latin typeface="IBM Plex Sans" pitchFamily="34" charset="0"/>
                <a:ea typeface="IBM Plex Sans" pitchFamily="34" charset="-122"/>
                <a:cs typeface="IBM Plex Sans" pitchFamily="34" charset="-120"/>
              </a:rPr>
              <a:t> a release every 2 to 6 weeks; v2.2.0 changed 530 files</a:t>
            </a:r>
            <a:endParaRPr lang="en-US" sz="1400" dirty="0"/>
          </a:p>
        </p:txBody>
      </p:sp>
      <p:sp>
        <p:nvSpPr>
          <p:cNvPr id="18" name="Text 16"/>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github.com/affaan-m/ECC · plugin ecc@ecc · tested v2.2.2 (2026-09-15)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ECC · HOW IT WORKS</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Five mechanisms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2761"/>
          <a:ext cx="10553700" cy="2387600"/>
        </p:xfrm>
        <a:graphic>
          <a:graphicData uri="http://schemas.openxmlformats.org/drawingml/2006/table">
            <a:tbl>
              <a:tblPr/>
              <a:tblGrid>
                <a:gridCol w="1688592"/>
                <a:gridCol w="4010406"/>
                <a:gridCol w="2532888"/>
                <a:gridCol w="2321814"/>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Mechanism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What it 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Triggered by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Example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Skills (292)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Markdown playbooks Claude loads when relevant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Claude decides, or you ask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tdd-workflow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Agents (68)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Helper Claudes with their own prompt and context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Commands, skills or you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go-reviewer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Commands (94)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Slash entry points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You type them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/ecc:plan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9055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Hooks (24)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Scripts that run automatically before/after actions; can block them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Every tool call, stop, session 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GateGuard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Rules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Always-on guidance files (security, testing, style)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Always loaded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rules/common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4378961"/>
            <a:ext cx="10566400" cy="853440"/>
          </a:xfrm>
          <a:prstGeom prst="roundRect">
            <a:avLst>
              <a:gd name="adj" fmla="val 11905"/>
            </a:avLst>
          </a:prstGeom>
          <a:solidFill>
            <a:srgbClr val="FBEBDD"/>
          </a:solidFill>
          <a:ln/>
        </p:spPr>
        <p:txBody>
          <a:bodyPr wrap="square" lIns="198842" tIns="148042" rIns="0" bIns="122642"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Gotcha:</a:t>
            </a:r>
            <a:r>
              <a:rPr lang="en-US" sz="1400" dirty="0">
                <a:solidFill>
                  <a:srgbClr val="16202E"/>
                </a:solidFill>
                <a:latin typeface="IBM Plex Sans" pitchFamily="34" charset="0"/>
                <a:ea typeface="IBM Plex Sans" pitchFamily="34" charset="-122"/>
                <a:cs typeface="IBM Plex Sans" pitchFamily="34" charset="-120"/>
              </a:rPr>
              <a:t> the plugin </a:t>
            </a:r>
            <a:r>
              <a:rPr lang="en-US" sz="1400" b="1" dirty="0">
                <a:solidFill>
                  <a:srgbClr val="16202E"/>
                </a:solidFill>
                <a:latin typeface="IBM Plex Sans" pitchFamily="34" charset="0"/>
                <a:ea typeface="IBM Plex Sans" pitchFamily="34" charset="-122"/>
                <a:cs typeface="IBM Plex Sans" pitchFamily="34" charset="-120"/>
              </a:rPr>
              <a:t>does not install the rules</a:t>
            </a:r>
            <a:r>
              <a:rPr lang="en-US" sz="1400" dirty="0">
                <a:solidFill>
                  <a:srgbClr val="16202E"/>
                </a:solidFill>
                <a:latin typeface="IBM Plex Sans" pitchFamily="34" charset="0"/>
                <a:ea typeface="IBM Plex Sans" pitchFamily="34" charset="-122"/>
                <a:cs typeface="IBM Plex Sans" pitchFamily="34" charset="-120"/>
              </a:rPr>
              <a:t>. Copy them into .claude/rules/ecc/ by hand, and it installs the </a:t>
            </a:r>
            <a:r>
              <a:rPr lang="en-US" sz="1400" b="1" dirty="0">
                <a:solidFill>
                  <a:srgbClr val="16202E"/>
                </a:solidFill>
                <a:latin typeface="IBM Plex Sans" pitchFamily="34" charset="0"/>
                <a:ea typeface="IBM Plex Sans" pitchFamily="34" charset="-122"/>
                <a:cs typeface="IBM Plex Sans" pitchFamily="34" charset="-120"/>
              </a:rPr>
              <a:t>whole catalog</a:t>
            </a:r>
            <a:r>
              <a:rPr lang="en-US" sz="1400" dirty="0">
                <a:solidFill>
                  <a:srgbClr val="16202E"/>
                </a:solidFill>
                <a:latin typeface="IBM Plex Sans" pitchFamily="34" charset="0"/>
                <a:ea typeface="IBM Plex Sans" pitchFamily="34" charset="-122"/>
                <a:cs typeface="IBM Plex Sans" pitchFamily="34" charset="-120"/>
              </a:rPr>
              <a:t> (no picking).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ECC · THE BUILD WORKFLOW</a:t>
            </a:r>
            <a:endParaRPr lang="en-US" sz="1200" dirty="0"/>
          </a:p>
        </p:txBody>
      </p:sp>
      <p:sp>
        <p:nvSpPr>
          <p:cNvPr id="3" name="Text 1"/>
          <p:cNvSpPr/>
          <p:nvPr>
            <p:ph type="title"/>
          </p:nvPr>
        </p:nvSpPr>
        <p:spPr>
          <a:xfrm>
            <a:off x="812800" y="11023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Plan → test-first build → review → fix</a:t>
            </a:r>
            <a:endParaRPr lang="en-US" sz="3000" dirty="0"/>
          </a:p>
        </p:txBody>
      </p:sp>
      <p:sp>
        <p:nvSpPr>
          <p:cNvPr id="4" name="Shape 2"/>
          <p:cNvSpPr/>
          <p:nvPr/>
        </p:nvSpPr>
        <p:spPr>
          <a:xfrm>
            <a:off x="815975" y="1829436"/>
            <a:ext cx="2235200" cy="1312545"/>
          </a:xfrm>
          <a:prstGeom prst="roundRect">
            <a:avLst>
              <a:gd name="adj" fmla="val 7499"/>
            </a:avLst>
          </a:prstGeom>
          <a:solidFill>
            <a:srgbClr val="FDFCF9"/>
          </a:solidFill>
          <a:ln w="6350">
            <a:solidFill>
              <a:srgbClr val="E2DFD6"/>
            </a:solidFill>
            <a:prstDash val="solid"/>
          </a:ln>
        </p:spPr>
      </p:sp>
      <p:sp>
        <p:nvSpPr>
          <p:cNvPr id="5" name="Text 3"/>
          <p:cNvSpPr/>
          <p:nvPr/>
        </p:nvSpPr>
        <p:spPr>
          <a:xfrm>
            <a:off x="996950" y="2010411"/>
            <a:ext cx="19294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/ecc:plan</a:t>
            </a:r>
            <a:endParaRPr lang="en-US" sz="1300" dirty="0"/>
          </a:p>
        </p:txBody>
      </p:sp>
      <p:sp>
        <p:nvSpPr>
          <p:cNvPr id="6" name="Text 4"/>
          <p:cNvSpPr/>
          <p:nvPr/>
        </p:nvSpPr>
        <p:spPr>
          <a:xfrm>
            <a:off x="996950" y="2292350"/>
            <a:ext cx="1929448"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Restates, maps code patterns, lists risks by severity, waits for OK</a:t>
            </a:r>
            <a:endParaRPr lang="en-US" sz="1300" dirty="0"/>
          </a:p>
        </p:txBody>
      </p:sp>
      <p:pic>
        <p:nvPicPr>
          <p:cNvPr id="7" name="Image 0" descr="arrow-right">    </p:cNvPr>
          <p:cNvPicPr>
            <a:picLocks noChangeAspect="1"/>
          </p:cNvPicPr>
          <p:nvPr/>
        </p:nvPicPr>
        <p:blipFill>
          <a:blip r:embed="rId1"/>
          <a:srcRect l="0" r="0" t="0" b="0"/>
          <a:stretch/>
        </p:blipFill>
        <p:spPr>
          <a:xfrm>
            <a:off x="3181350" y="2403159"/>
            <a:ext cx="279400" cy="165100"/>
          </a:xfrm>
          <a:prstGeom prst="rect">
            <a:avLst/>
          </a:prstGeom>
        </p:spPr>
      </p:pic>
      <p:sp>
        <p:nvSpPr>
          <p:cNvPr id="8" name="Shape 5"/>
          <p:cNvSpPr/>
          <p:nvPr/>
        </p:nvSpPr>
        <p:spPr>
          <a:xfrm>
            <a:off x="3590925" y="1829436"/>
            <a:ext cx="2235200" cy="1312545"/>
          </a:xfrm>
          <a:prstGeom prst="roundRect">
            <a:avLst>
              <a:gd name="adj" fmla="val 7499"/>
            </a:avLst>
          </a:prstGeom>
          <a:solidFill>
            <a:srgbClr val="FDFCF9"/>
          </a:solidFill>
          <a:ln w="6350">
            <a:solidFill>
              <a:srgbClr val="E2DFD6"/>
            </a:solidFill>
            <a:prstDash val="solid"/>
          </a:ln>
        </p:spPr>
      </p:sp>
      <p:sp>
        <p:nvSpPr>
          <p:cNvPr id="9" name="Text 6"/>
          <p:cNvSpPr/>
          <p:nvPr/>
        </p:nvSpPr>
        <p:spPr>
          <a:xfrm>
            <a:off x="3771900" y="2010411"/>
            <a:ext cx="19294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tdd-workflow</a:t>
            </a:r>
            <a:endParaRPr lang="en-US" sz="1300" dirty="0"/>
          </a:p>
        </p:txBody>
      </p:sp>
      <p:sp>
        <p:nvSpPr>
          <p:cNvPr id="10" name="Text 7"/>
          <p:cNvSpPr/>
          <p:nvPr/>
        </p:nvSpPr>
        <p:spPr>
          <a:xfrm>
            <a:off x="3771900" y="2292350"/>
            <a:ext cx="1929448"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Failing test first, then code; aims for 80%+ coverage</a:t>
            </a:r>
            <a:endParaRPr lang="en-US" sz="1300" dirty="0"/>
          </a:p>
        </p:txBody>
      </p:sp>
      <p:pic>
        <p:nvPicPr>
          <p:cNvPr id="11" name="Image 1" descr="arrow-right">    </p:cNvPr>
          <p:cNvPicPr>
            <a:picLocks noChangeAspect="1"/>
          </p:cNvPicPr>
          <p:nvPr/>
        </p:nvPicPr>
        <p:blipFill>
          <a:blip r:embed="rId2"/>
          <a:srcRect l="0" r="0" t="0" b="0"/>
          <a:stretch/>
        </p:blipFill>
        <p:spPr>
          <a:xfrm>
            <a:off x="5956300" y="2403159"/>
            <a:ext cx="279400" cy="165100"/>
          </a:xfrm>
          <a:prstGeom prst="rect">
            <a:avLst/>
          </a:prstGeom>
        </p:spPr>
      </p:pic>
      <p:sp>
        <p:nvSpPr>
          <p:cNvPr id="12" name="Shape 8"/>
          <p:cNvSpPr/>
          <p:nvPr/>
        </p:nvSpPr>
        <p:spPr>
          <a:xfrm>
            <a:off x="6365875" y="1829436"/>
            <a:ext cx="2235200" cy="1312545"/>
          </a:xfrm>
          <a:prstGeom prst="roundRect">
            <a:avLst>
              <a:gd name="adj" fmla="val 7499"/>
            </a:avLst>
          </a:prstGeom>
          <a:solidFill>
            <a:srgbClr val="FDFCF9"/>
          </a:solidFill>
          <a:ln w="6350">
            <a:solidFill>
              <a:srgbClr val="E2DFD6"/>
            </a:solidFill>
            <a:prstDash val="solid"/>
          </a:ln>
        </p:spPr>
      </p:sp>
      <p:sp>
        <p:nvSpPr>
          <p:cNvPr id="13" name="Text 9"/>
          <p:cNvSpPr/>
          <p:nvPr/>
        </p:nvSpPr>
        <p:spPr>
          <a:xfrm>
            <a:off x="6546850" y="2010411"/>
            <a:ext cx="19294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/ecc:code-review</a:t>
            </a:r>
            <a:endParaRPr lang="en-US" sz="1300" dirty="0"/>
          </a:p>
        </p:txBody>
      </p:sp>
      <p:sp>
        <p:nvSpPr>
          <p:cNvPr id="14" name="Text 10"/>
          <p:cNvSpPr/>
          <p:nvPr/>
        </p:nvSpPr>
        <p:spPr>
          <a:xfrm>
            <a:off x="6546850" y="2292350"/>
            <a:ext cx="1929448"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Security + quality review, rated CRITICAL / HIGH / MEDIUM</a:t>
            </a:r>
            <a:endParaRPr lang="en-US" sz="1300" dirty="0"/>
          </a:p>
        </p:txBody>
      </p:sp>
      <p:pic>
        <p:nvPicPr>
          <p:cNvPr id="15" name="Image 2" descr="arrow-right">    </p:cNvPr>
          <p:cNvPicPr>
            <a:picLocks noChangeAspect="1"/>
          </p:cNvPicPr>
          <p:nvPr/>
        </p:nvPicPr>
        <p:blipFill>
          <a:blip r:embed="rId3"/>
          <a:srcRect l="0" r="0" t="0" b="0"/>
          <a:stretch/>
        </p:blipFill>
        <p:spPr>
          <a:xfrm>
            <a:off x="8731250" y="2403159"/>
            <a:ext cx="279400" cy="165100"/>
          </a:xfrm>
          <a:prstGeom prst="rect">
            <a:avLst/>
          </a:prstGeom>
        </p:spPr>
      </p:pic>
      <p:sp>
        <p:nvSpPr>
          <p:cNvPr id="16" name="Shape 11"/>
          <p:cNvSpPr/>
          <p:nvPr/>
        </p:nvSpPr>
        <p:spPr>
          <a:xfrm>
            <a:off x="9140825" y="1829436"/>
            <a:ext cx="2235200" cy="1312545"/>
          </a:xfrm>
          <a:prstGeom prst="roundRect">
            <a:avLst>
              <a:gd name="adj" fmla="val 7499"/>
            </a:avLst>
          </a:prstGeom>
          <a:solidFill>
            <a:srgbClr val="FDFCF9"/>
          </a:solidFill>
          <a:ln w="6350">
            <a:solidFill>
              <a:srgbClr val="E2DFD6"/>
            </a:solidFill>
            <a:prstDash val="solid"/>
          </a:ln>
        </p:spPr>
      </p:sp>
      <p:sp>
        <p:nvSpPr>
          <p:cNvPr id="17" name="Text 12"/>
          <p:cNvSpPr/>
          <p:nvPr/>
        </p:nvSpPr>
        <p:spPr>
          <a:xfrm>
            <a:off x="9321800" y="2010411"/>
            <a:ext cx="19294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Fix</a:t>
            </a:r>
            <a:endParaRPr lang="en-US" sz="1300" dirty="0"/>
          </a:p>
        </p:txBody>
      </p:sp>
      <p:sp>
        <p:nvSpPr>
          <p:cNvPr id="18" name="Text 13"/>
          <p:cNvSpPr/>
          <p:nvPr/>
        </p:nvSpPr>
        <p:spPr>
          <a:xfrm>
            <a:off x="9321800" y="2292350"/>
            <a:ext cx="1929448"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Fixes CRITICAL and HIGH; asks before MEDIUM</a:t>
            </a:r>
            <a:endParaRPr lang="en-US" sz="1300" dirty="0"/>
          </a:p>
        </p:txBody>
      </p:sp>
      <p:sp>
        <p:nvSpPr>
          <p:cNvPr id="19" name="Text 14"/>
          <p:cNvSpPr/>
          <p:nvPr/>
        </p:nvSpPr>
        <p:spPr>
          <a:xfrm>
            <a:off x="812800" y="3449954"/>
            <a:ext cx="53370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Install (as tested, project scope)</a:t>
            </a:r>
            <a:endParaRPr lang="en-US" sz="1600" dirty="0"/>
          </a:p>
        </p:txBody>
      </p:sp>
      <p:sp>
        <p:nvSpPr>
          <p:cNvPr id="20" name="Text 15"/>
          <p:cNvSpPr/>
          <p:nvPr/>
        </p:nvSpPr>
        <p:spPr>
          <a:xfrm>
            <a:off x="812800" y="3769996"/>
            <a:ext cx="5181600" cy="1524000"/>
          </a:xfrm>
          <a:prstGeom prst="roundRect">
            <a:avLst>
              <a:gd name="adj" fmla="val 5000"/>
            </a:avLst>
          </a:prstGeom>
          <a:solidFill>
            <a:srgbClr val="16202E"/>
          </a:solidFill>
          <a:ln/>
        </p:spPr>
        <p:txBody>
          <a:bodyPr wrap="square" lIns="155482" tIns="130082" rIns="10702" bIns="104682" rtlCol="0" anchor="t">
            <a:normAutofit/>
          </a:bodyPr>
          <a:lstStyle/>
          <a:p>
            <a:pPr algn="l" indent="0" marL="0">
              <a:lnSpc>
                <a:spcPts val="1920"/>
              </a:lnSpc>
              <a:buNone/>
            </a:pPr>
            <a:r>
              <a:rPr lang="en-US" sz="1200" dirty="0">
                <a:solidFill>
                  <a:srgbClr val="E6E9EE"/>
                </a:solidFill>
                <a:latin typeface="JetBrains Mono" pitchFamily="49" charset="0"/>
                <a:ea typeface="JetBrains Mono" pitchFamily="49" charset="-122"/>
                <a:cs typeface="JetBrains Mono" pitchFamily="49" charset="-120"/>
              </a:rPr>
              <a:t>/plugin marketplace add</a:t>
            </a:r>
            <a:endParaRPr lang="en-US" sz="1200" dirty="0"/>
          </a:p>
          <a:p>
            <a:pPr algn="l" indent="0" marL="0">
              <a:lnSpc>
                <a:spcPts val="1920"/>
              </a:lnSpc>
              <a:buNone/>
            </a:pPr>
            <a:r>
              <a:rPr lang="en-US" sz="1200" dirty="0">
                <a:solidFill>
                  <a:srgbClr val="E6E9EE"/>
                </a:solidFill>
                <a:latin typeface="JetBrains Mono" pitchFamily="49" charset="0"/>
                <a:ea typeface="JetBrains Mono" pitchFamily="49" charset="-122"/>
                <a:cs typeface="JetBrains Mono" pitchFamily="49" charset="-120"/>
              </a:rPr>
              <a:t>  https://github.com/affaan-m/ECC</a:t>
            </a:r>
            <a:endParaRPr lang="en-US" sz="1200" dirty="0"/>
          </a:p>
          <a:p>
            <a:pPr algn="l" indent="0" marL="0">
              <a:lnSpc>
                <a:spcPts val="1920"/>
              </a:lnSpc>
              <a:buNone/>
            </a:pPr>
            <a:r>
              <a:rPr lang="en-US" sz="1200" dirty="0">
                <a:solidFill>
                  <a:srgbClr val="E6E9EE"/>
                </a:solidFill>
                <a:latin typeface="JetBrains Mono" pitchFamily="49" charset="0"/>
                <a:ea typeface="JetBrains Mono" pitchFamily="49" charset="-122"/>
                <a:cs typeface="JetBrains Mono" pitchFamily="49" charset="-120"/>
              </a:rPr>
              <a:t>/plugin install ecc@ecc (choose Project)</a:t>
            </a:r>
            <a:endParaRPr lang="en-US" sz="1200" dirty="0"/>
          </a:p>
          <a:p>
            <a:pPr algn="l" indent="0" marL="0">
              <a:lnSpc>
                <a:spcPts val="1920"/>
              </a:lnSpc>
              <a:buNone/>
            </a:pPr>
            <a:r>
              <a:rPr lang="en-US" sz="1200" dirty="0">
                <a:solidFill>
                  <a:srgbClr val="E6E9EE"/>
                </a:solidFill>
                <a:latin typeface="JetBrains Mono" pitchFamily="49" charset="0"/>
                <a:ea typeface="JetBrains Mono" pitchFamily="49" charset="-122"/>
                <a:cs typeface="JetBrains Mono" pitchFamily="49" charset="-120"/>
              </a:rPr>
              <a:t>copy rules common, golang, typescript, react</a:t>
            </a:r>
            <a:endParaRPr lang="en-US" sz="1200" dirty="0"/>
          </a:p>
          <a:p>
            <a:pPr algn="l" indent="0" marL="0">
              <a:lnSpc>
                <a:spcPts val="1920"/>
              </a:lnSpc>
              <a:buNone/>
            </a:pPr>
            <a:r>
              <a:rPr lang="en-US" sz="1200" dirty="0">
                <a:solidFill>
                  <a:srgbClr val="E6E9EE"/>
                </a:solidFill>
                <a:latin typeface="JetBrains Mono" pitchFamily="49" charset="0"/>
                <a:ea typeface="JetBrains Mono" pitchFamily="49" charset="-122"/>
                <a:cs typeface="JetBrains Mono" pitchFamily="49" charset="-120"/>
              </a:rPr>
              <a:t>→ .claude/rules/ecc/</a:t>
            </a:r>
            <a:endParaRPr lang="en-US" sz="1200" dirty="0"/>
          </a:p>
        </p:txBody>
      </p:sp>
      <p:sp>
        <p:nvSpPr>
          <p:cNvPr id="21" name="Text 16"/>
          <p:cNvSpPr/>
          <p:nvPr/>
        </p:nvSpPr>
        <p:spPr>
          <a:xfrm>
            <a:off x="6197600" y="3449954"/>
            <a:ext cx="53370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Problems we hit</a:t>
            </a:r>
            <a:endParaRPr lang="en-US" sz="1600" dirty="0"/>
          </a:p>
        </p:txBody>
      </p:sp>
      <p:sp>
        <p:nvSpPr>
          <p:cNvPr id="22" name="Text 17"/>
          <p:cNvSpPr/>
          <p:nvPr/>
        </p:nvSpPr>
        <p:spPr>
          <a:xfrm>
            <a:off x="6282944" y="3769996"/>
            <a:ext cx="5244084" cy="987743"/>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README's </a:t>
            </a:r>
            <a:r>
              <a:rPr lang="en-US" sz="1300" b="1" dirty="0">
                <a:solidFill>
                  <a:srgbClr val="16202E"/>
                </a:solidFill>
                <a:latin typeface="IBM Plex Sans" pitchFamily="34" charset="0"/>
                <a:ea typeface="IBM Plex Sans" pitchFamily="34" charset="-122"/>
                <a:cs typeface="IBM Plex Sans" pitchFamily="34" charset="-120"/>
              </a:rPr>
              <a:t>npx ecc-universal@2.2.2</a:t>
            </a:r>
            <a:r>
              <a:rPr lang="en-US" sz="1300" dirty="0">
                <a:solidFill>
                  <a:srgbClr val="4A5568"/>
                </a:solidFill>
                <a:latin typeface="IBM Plex Sans" pitchFamily="34" charset="0"/>
                <a:ea typeface="IBM Plex Sans" pitchFamily="34" charset="-122"/>
                <a:cs typeface="IBM Plex Sans" pitchFamily="34" charset="-120"/>
              </a:rPr>
              <a:t> is not on npm</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Windows "plugin not cached": delete cache, enable long paths, reinstall</a:t>
            </a:r>
            <a:endParaRPr lang="en-US" sz="1300" dirty="0"/>
          </a:p>
          <a:p>
            <a:pPr algn="l" marL="168656" indent="-168656">
              <a:lnSpc>
                <a:spcPts val="1885"/>
              </a:lnSpc>
              <a:buSzPct val="100000"/>
              <a:buChar char="•"/>
            </a:pPr>
            <a:r>
              <a:rPr lang="en-US" sz="1300" b="1" dirty="0">
                <a:solidFill>
                  <a:srgbClr val="16202E"/>
                </a:solidFill>
                <a:latin typeface="IBM Plex Sans" pitchFamily="34" charset="0"/>
                <a:ea typeface="IBM Plex Sans" pitchFamily="34" charset="-122"/>
                <a:cs typeface="IBM Plex Sans" pitchFamily="34" charset="-120"/>
              </a:rPr>
              <a:t>/plugin installs whatever is on main</a:t>
            </a:r>
            <a:r>
              <a:rPr lang="en-US" sz="1300" dirty="0">
                <a:solidFill>
                  <a:srgbClr val="4A5568"/>
                </a:solidFill>
                <a:latin typeface="IBM Plex Sans" pitchFamily="34" charset="0"/>
                <a:ea typeface="IBM Plex Sans" pitchFamily="34" charset="-122"/>
                <a:cs typeface="IBM Plex Sans" pitchFamily="34" charset="-120"/>
              </a:rPr>
              <a:t>; record the version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ECC · WHAT RUNS AUTOMATICALLY</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Automatic hooks and laptop memory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8958"/>
          <a:ext cx="6591300" cy="2618740"/>
        </p:xfrm>
        <a:graphic>
          <a:graphicData uri="http://schemas.openxmlformats.org/drawingml/2006/table">
            <a:tbl>
              <a:tblPr/>
              <a:tblGrid>
                <a:gridCol w="1450086"/>
                <a:gridCol w="1845564"/>
                <a:gridCol w="3295650"/>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When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Hook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Effect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59055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Before edit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GateGuard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Blocks the first edit of each file until Claude states facts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Before edit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config-protection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Blocks edits to lint/format configs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Before shell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block-no-verify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Blocks git --no-verify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9055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End of each reply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format + typecheck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Prettier/Biome + tsc on edited files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Session 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bootstrap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Injects last session's summary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Shape 2"/>
          <p:cNvSpPr/>
          <p:nvPr/>
        </p:nvSpPr>
        <p:spPr>
          <a:xfrm>
            <a:off x="7724775" y="1829433"/>
            <a:ext cx="3651250" cy="2625090"/>
          </a:xfrm>
          <a:prstGeom prst="roundRect">
            <a:avLst>
              <a:gd name="adj" fmla="val 3749"/>
            </a:avLst>
          </a:prstGeom>
          <a:solidFill>
            <a:srgbClr val="FDFCF9"/>
          </a:solidFill>
          <a:ln w="6350">
            <a:solidFill>
              <a:srgbClr val="E2DFD6"/>
            </a:solidFill>
            <a:prstDash val="solid"/>
          </a:ln>
        </p:spPr>
      </p:sp>
      <p:sp>
        <p:nvSpPr>
          <p:cNvPr id="6" name="Text 3"/>
          <p:cNvSpPr/>
          <p:nvPr/>
        </p:nvSpPr>
        <p:spPr>
          <a:xfrm>
            <a:off x="7956550" y="2061208"/>
            <a:ext cx="328333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Memory outside the repo</a:t>
            </a:r>
            <a:endParaRPr lang="en-US" sz="1600" dirty="0"/>
          </a:p>
        </p:txBody>
      </p:sp>
      <p:sp>
        <p:nvSpPr>
          <p:cNvPr id="7" name="Text 4"/>
          <p:cNvSpPr/>
          <p:nvPr/>
        </p:nvSpPr>
        <p:spPr>
          <a:xfrm>
            <a:off x="7956550" y="2406650"/>
            <a:ext cx="3283331" cy="100076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6202E"/>
                </a:solidFill>
                <a:latin typeface="JetBrains Mono" pitchFamily="49" charset="0"/>
                <a:ea typeface="JetBrains Mono" pitchFamily="49" charset="-122"/>
                <a:cs typeface="JetBrains Mono" pitchFamily="49" charset="-120"/>
              </a:rPr>
              <a:t>~/.claude/session-data</a:t>
            </a:r>
            <a:endParaRPr lang="en-US" sz="1200" dirty="0"/>
          </a:p>
          <a:p>
            <a:pPr algn="l" indent="0" marL="0">
              <a:lnSpc>
                <a:spcPts val="1920"/>
              </a:lnSpc>
              <a:buNone/>
            </a:pPr>
            <a:r>
              <a:rPr lang="en-US" sz="1200" dirty="0">
                <a:solidFill>
                  <a:srgbClr val="16202E"/>
                </a:solidFill>
                <a:latin typeface="JetBrains Mono" pitchFamily="49" charset="0"/>
                <a:ea typeface="JetBrains Mono" pitchFamily="49" charset="-122"/>
                <a:cs typeface="JetBrains Mono" pitchFamily="49" charset="-120"/>
              </a:rPr>
              <a:t>~/.claude/skills/learned</a:t>
            </a:r>
            <a:endParaRPr lang="en-US" sz="1200" dirty="0"/>
          </a:p>
          <a:p>
            <a:pPr algn="l" indent="0" marL="0">
              <a:lnSpc>
                <a:spcPts val="1920"/>
              </a:lnSpc>
              <a:buNone/>
            </a:pPr>
            <a:r>
              <a:rPr lang="en-US" sz="1200" dirty="0">
                <a:solidFill>
                  <a:srgbClr val="16202E"/>
                </a:solidFill>
                <a:latin typeface="JetBrains Mono" pitchFamily="49" charset="0"/>
                <a:ea typeface="JetBrains Mono" pitchFamily="49" charset="-122"/>
                <a:cs typeface="JetBrains Mono" pitchFamily="49" charset="-120"/>
              </a:rPr>
              <a:t>~/.local/share/ecc-homunculus</a:t>
            </a:r>
            <a:endParaRPr lang="en-US" sz="1200" dirty="0"/>
          </a:p>
          <a:p>
            <a:pPr algn="l" indent="0" marL="0">
              <a:lnSpc>
                <a:spcPts val="1920"/>
              </a:lnSpc>
              <a:buNone/>
            </a:pPr>
            <a:r>
              <a:rPr lang="en-US" sz="1200" dirty="0">
                <a:solidFill>
                  <a:srgbClr val="16202E"/>
                </a:solidFill>
                <a:latin typeface="JetBrains Mono" pitchFamily="49" charset="0"/>
                <a:ea typeface="JetBrains Mono" pitchFamily="49" charset="-122"/>
                <a:cs typeface="JetBrains Mono" pitchFamily="49" charset="-120"/>
              </a:rPr>
              <a:t>~/.gateguard</a:t>
            </a:r>
            <a:endParaRPr lang="en-US" sz="1200" dirty="0"/>
          </a:p>
        </p:txBody>
      </p:sp>
      <p:sp>
        <p:nvSpPr>
          <p:cNvPr id="8" name="Text 5"/>
          <p:cNvSpPr/>
          <p:nvPr/>
        </p:nvSpPr>
        <p:spPr>
          <a:xfrm>
            <a:off x="7956550" y="3483608"/>
            <a:ext cx="328333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Per developer, automatic, </a:t>
            </a:r>
            <a:r>
              <a:rPr lang="en-US" sz="1300" b="1" dirty="0">
                <a:solidFill>
                  <a:srgbClr val="16202E"/>
                </a:solidFill>
                <a:latin typeface="IBM Plex Sans" pitchFamily="34" charset="0"/>
                <a:ea typeface="IBM Plex Sans" pitchFamily="34" charset="-122"/>
                <a:cs typeface="IBM Plex Sans" pitchFamily="34" charset="-120"/>
              </a:rPr>
              <a:t>not shared via git</a:t>
            </a:r>
            <a:r>
              <a:rPr lang="en-US" sz="1300" dirty="0">
                <a:solidFill>
                  <a:srgbClr val="4A5568"/>
                </a:solidFill>
                <a:latin typeface="IBM Plex Sans" pitchFamily="34" charset="0"/>
                <a:ea typeface="IBM Plex Sans" pitchFamily="34" charset="-122"/>
                <a:cs typeface="IBM Plex Sans" pitchFamily="34" charset="-120"/>
              </a:rPr>
              <a:t>. Matt Pocock keeps memory in the repo instead.</a:t>
            </a:r>
            <a:endParaRPr lang="en-US" sz="1300" dirty="0"/>
          </a:p>
        </p:txBody>
      </p:sp>
      <p:sp>
        <p:nvSpPr>
          <p:cNvPr id="9" name="Text 6"/>
          <p:cNvSpPr/>
          <p:nvPr/>
        </p:nvSpPr>
        <p:spPr>
          <a:xfrm>
            <a:off x="812800" y="476250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02E"/>
                </a:solidFill>
                <a:latin typeface="IBM Plex Sans" pitchFamily="34" charset="0"/>
                <a:ea typeface="IBM Plex Sans" pitchFamily="34" charset="-122"/>
                <a:cs typeface="IBM Plex Sans" pitchFamily="34" charset="-120"/>
              </a:rPr>
              <a:t>In our runs: </a:t>
            </a:r>
            <a:r>
              <a:rPr lang="en-US" sz="1500" b="1" dirty="0">
                <a:solidFill>
                  <a:srgbClr val="16202E"/>
                </a:solidFill>
                <a:latin typeface="IBM Plex Sans" pitchFamily="34" charset="0"/>
                <a:ea typeface="IBM Plex Sans" pitchFamily="34" charset="-122"/>
                <a:cs typeface="IBM Plex Sans" pitchFamily="34" charset="-120"/>
              </a:rPr>
              <a:t>GateGuard blocked 34 edits</a:t>
            </a:r>
            <a:r>
              <a:rPr lang="en-US" sz="1500" dirty="0">
                <a:solidFill>
                  <a:srgbClr val="16202E"/>
                </a:solidFill>
                <a:latin typeface="IBM Plex Sans" pitchFamily="34" charset="0"/>
                <a:ea typeface="IBM Plex Sans" pitchFamily="34" charset="-122"/>
                <a:cs typeface="IBM Plex Sans" pitchFamily="34" charset="-120"/>
              </a:rPr>
              <a:t>, with no mistake it visibly prevented.</a:t>
            </a:r>
            <a:endParaRPr lang="en-US" sz="1500" dirty="0"/>
          </a:p>
        </p:txBody>
      </p:sp>
      <p:sp>
        <p:nvSpPr>
          <p:cNvPr id="10" name="Text 7"/>
          <p:cNvSpPr/>
          <p:nvPr/>
        </p:nvSpPr>
        <p:spPr>
          <a:xfrm>
            <a:off x="7823200" y="6187442"/>
            <a:ext cx="3556000" cy="314960"/>
          </a:xfrm>
          <a:prstGeom prst="roundRect">
            <a:avLst>
              <a:gd name="adj" fmla="val 50000"/>
            </a:avLst>
          </a:prstGeom>
          <a:solidFill>
            <a:srgbClr val="2B63A6"/>
          </a:solidFill>
          <a:ln/>
        </p:spPr>
        <p:txBody>
          <a:bodyPr wrap="none" lIns="31346" tIns="4676" rIns="31346" bIns="0" rtlCol="0" anchor="t">
            <a:normAutofit/>
          </a:bodyPr>
          <a:lstStyle/>
          <a:p>
            <a:pPr algn="ctr"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 DEMO · /hooks in an ECC folder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ECC · THE PARTS THAT MATTER FOR US</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Most useful skills and agents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58"/>
          <a:ext cx="5143500" cy="2076450"/>
        </p:xfrm>
        <a:graphic>
          <a:graphicData uri="http://schemas.openxmlformats.org/drawingml/2006/table">
            <a:tbl>
              <a:tblPr/>
              <a:tblGrid>
                <a:gridCol w="2263140"/>
                <a:gridCol w="2880360"/>
              </a:tblGrid>
              <a:tr h="346075">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Skill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What it does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tdd-workflow</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Core of ECC; used in runs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security-review</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Checklist: input, auth, secrets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golang-testing</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Table tests, fuzzing, coverage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react-testing</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Testing Library, Vitest, MSW</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context-budget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Shows what eats the context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5700" y="1788158"/>
          <a:ext cx="5143500" cy="2076450"/>
        </p:xfrm>
        <a:graphic>
          <a:graphicData uri="http://schemas.openxmlformats.org/drawingml/2006/table">
            <a:tbl>
              <a:tblPr/>
              <a:tblGrid>
                <a:gridCol w="2263140"/>
                <a:gridCol w="2880360"/>
              </a:tblGrid>
              <a:tr h="346075">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Agent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What it does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go-reviewer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Idiomatic Go, concurrency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typescript-reviewer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Type safety, async, security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react-reviewer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Hooks, rendering, boundaries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security-reviewer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Vulnerabilities, OWASP Top 10</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planner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Plans complex features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6" name="Text 2"/>
          <p:cNvSpPr/>
          <p:nvPr/>
        </p:nvSpPr>
        <p:spPr>
          <a:xfrm>
            <a:off x="812800" y="4118608"/>
            <a:ext cx="10566400" cy="802640"/>
          </a:xfrm>
          <a:prstGeom prst="roundRect">
            <a:avLst>
              <a:gd name="adj" fmla="val 12658"/>
            </a:avLst>
          </a:prstGeom>
          <a:solidFill>
            <a:srgbClr val="FBEBDD"/>
          </a:solidFill>
          <a:ln/>
        </p:spPr>
        <p:txBody>
          <a:bodyPr wrap="square" lIns="198842" tIns="122642" rIns="0" bIns="97242" rtlCol="0" anchor="t">
            <a:normAutofit/>
          </a:bodyPr>
          <a:lstStyle/>
          <a:p>
            <a:pPr algn="l"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Reviewers run on </a:t>
            </a:r>
            <a:r>
              <a:rPr lang="en-US" sz="1400" b="1" dirty="0">
                <a:solidFill>
                  <a:srgbClr val="16202E"/>
                </a:solidFill>
                <a:latin typeface="IBM Plex Sans" pitchFamily="34" charset="0"/>
                <a:ea typeface="IBM Plex Sans" pitchFamily="34" charset="-122"/>
                <a:cs typeface="IBM Plex Sans" pitchFamily="34" charset="-120"/>
              </a:rPr>
              <a:t>Sonnet</a:t>
            </a:r>
            <a:r>
              <a:rPr lang="en-US" sz="1400" dirty="0">
                <a:solidFill>
                  <a:srgbClr val="16202E"/>
                </a:solidFill>
                <a:latin typeface="IBM Plex Sans" pitchFamily="34" charset="0"/>
                <a:ea typeface="IBM Plex Sans" pitchFamily="34" charset="-122"/>
                <a:cs typeface="IBM Plex Sans" pitchFamily="34" charset="-120"/>
              </a:rPr>
              <a:t> (cheaper), planner on Opus. Agents say "use </a:t>
            </a:r>
            <a:r>
              <a:rPr lang="en-US" sz="1400" b="1" dirty="0">
                <a:solidFill>
                  <a:srgbClr val="16202E"/>
                </a:solidFill>
                <a:latin typeface="IBM Plex Sans" pitchFamily="34" charset="0"/>
                <a:ea typeface="IBM Plex Sans" pitchFamily="34" charset="-122"/>
                <a:cs typeface="IBM Plex Sans" pitchFamily="34" charset="-120"/>
              </a:rPr>
              <a:t>PROACTIVELY</a:t>
            </a:r>
            <a:r>
              <a:rPr lang="en-US" sz="1400" dirty="0">
                <a:solidFill>
                  <a:srgbClr val="16202E"/>
                </a:solidFill>
                <a:latin typeface="IBM Plex Sans" pitchFamily="34" charset="0"/>
                <a:ea typeface="IBM Plex Sans" pitchFamily="34" charset="-122"/>
                <a:cs typeface="IBM Plex Sans" pitchFamily="34" charset="-120"/>
              </a:rPr>
              <a:t>", yet </a:t>
            </a:r>
            <a:r>
              <a:rPr lang="en-US" sz="1400" b="1" dirty="0">
                <a:solidFill>
                  <a:srgbClr val="16202E"/>
                </a:solidFill>
                <a:latin typeface="IBM Plex Sans" pitchFamily="34" charset="0"/>
                <a:ea typeface="IBM Plex Sans" pitchFamily="34" charset="-122"/>
                <a:cs typeface="IBM Plex Sans" pitchFamily="34" charset="-120"/>
              </a:rPr>
              <a:t>0 launched on their own</a:t>
            </a:r>
            <a:r>
              <a:rPr lang="en-US" sz="1400" dirty="0">
                <a:solidFill>
                  <a:srgbClr val="16202E"/>
                </a:solidFill>
                <a:latin typeface="IBM Plex Sans" pitchFamily="34" charset="0"/>
                <a:ea typeface="IBM Plex Sans" pitchFamily="34" charset="-122"/>
                <a:cs typeface="IBM Plex Sans" pitchFamily="34" charset="-120"/>
              </a:rPr>
              <a:t> in our ECC runs: ask for them by name.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ECC · SECURITY REVIEW</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A checklist and a reviewer</a:t>
            </a:r>
            <a:endParaRPr lang="en-US" sz="3000" dirty="0"/>
          </a:p>
        </p:txBody>
      </p:sp>
      <p:sp>
        <p:nvSpPr>
          <p:cNvPr id="4" name="Shape 2"/>
          <p:cNvSpPr/>
          <p:nvPr/>
        </p:nvSpPr>
        <p:spPr>
          <a:xfrm>
            <a:off x="815975" y="1778633"/>
            <a:ext cx="5175250" cy="1813560"/>
          </a:xfrm>
          <a:prstGeom prst="roundRect">
            <a:avLst>
              <a:gd name="adj" fmla="val 5427"/>
            </a:avLst>
          </a:prstGeom>
          <a:solidFill>
            <a:srgbClr val="FDFCF9"/>
          </a:solidFill>
          <a:ln w="6350">
            <a:solidFill>
              <a:srgbClr val="E2DFD6"/>
            </a:solidFill>
            <a:prstDash val="solid"/>
          </a:ln>
        </p:spPr>
      </p:sp>
      <p:sp>
        <p:nvSpPr>
          <p:cNvPr id="5" name="Text 3"/>
          <p:cNvSpPr/>
          <p:nvPr/>
        </p:nvSpPr>
        <p:spPr>
          <a:xfrm>
            <a:off x="1047750" y="2010408"/>
            <a:ext cx="48530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security-review · skill</a:t>
            </a:r>
            <a:endParaRPr lang="en-US" sz="1300" dirty="0"/>
          </a:p>
        </p:txBody>
      </p:sp>
      <p:sp>
        <p:nvSpPr>
          <p:cNvPr id="6" name="Text 4"/>
          <p:cNvSpPr/>
          <p:nvPr/>
        </p:nvSpPr>
        <p:spPr>
          <a:xfrm>
            <a:off x="1047750" y="2330450"/>
            <a:ext cx="48530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checklist Claude follows </a:t>
            </a:r>
            <a:r>
              <a:rPr lang="en-US" sz="1300" b="1" dirty="0">
                <a:solidFill>
                  <a:srgbClr val="16202E"/>
                </a:solidFill>
                <a:latin typeface="IBM Plex Sans" pitchFamily="34" charset="0"/>
                <a:ea typeface="IBM Plex Sans" pitchFamily="34" charset="-122"/>
                <a:cs typeface="IBM Plex Sans" pitchFamily="34" charset="-120"/>
              </a:rPr>
              <a:t>while writing code</a:t>
            </a:r>
            <a:r>
              <a:rPr lang="en-US" sz="1300" dirty="0">
                <a:solidFill>
                  <a:srgbClr val="4A5568"/>
                </a:solidFill>
                <a:latin typeface="IBM Plex Sans" pitchFamily="34" charset="0"/>
                <a:ea typeface="IBM Plex Sans" pitchFamily="34" charset="-122"/>
                <a:cs typeface="IBM Plex Sans" pitchFamily="34" charset="-120"/>
              </a:rPr>
              <a:t> that touches login, input, secrets or APIs.</a:t>
            </a:r>
            <a:endParaRPr lang="en-US" sz="1300" dirty="0"/>
          </a:p>
        </p:txBody>
      </p:sp>
      <p:sp>
        <p:nvSpPr>
          <p:cNvPr id="7" name="Text 5"/>
          <p:cNvSpPr/>
          <p:nvPr/>
        </p:nvSpPr>
        <p:spPr>
          <a:xfrm>
            <a:off x="1047750" y="2881629"/>
            <a:ext cx="4853051"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02E"/>
                </a:solidFill>
                <a:latin typeface="IBM Plex Sans" pitchFamily="34" charset="0"/>
                <a:ea typeface="IBM Plex Sans" pitchFamily="34" charset="-122"/>
                <a:cs typeface="IBM Plex Sans" pitchFamily="34" charset="-120"/>
              </a:rPr>
              <a:t>Secrets · input validation · SQL injection · auth · XSS · CSRF · rate limits · logs · dependencies</a:t>
            </a:r>
            <a:endParaRPr lang="en-US" sz="1300" dirty="0"/>
          </a:p>
        </p:txBody>
      </p:sp>
      <p:sp>
        <p:nvSpPr>
          <p:cNvPr id="8" name="Shape 6"/>
          <p:cNvSpPr/>
          <p:nvPr/>
        </p:nvSpPr>
        <p:spPr>
          <a:xfrm>
            <a:off x="6200775" y="1778633"/>
            <a:ext cx="5175250" cy="1813560"/>
          </a:xfrm>
          <a:prstGeom prst="roundRect">
            <a:avLst>
              <a:gd name="adj" fmla="val 5427"/>
            </a:avLst>
          </a:prstGeom>
          <a:solidFill>
            <a:srgbClr val="FDFCF9"/>
          </a:solidFill>
          <a:ln w="6350">
            <a:solidFill>
              <a:srgbClr val="E2DFD6"/>
            </a:solidFill>
            <a:prstDash val="solid"/>
          </a:ln>
        </p:spPr>
      </p:sp>
      <p:sp>
        <p:nvSpPr>
          <p:cNvPr id="9" name="Text 7"/>
          <p:cNvSpPr/>
          <p:nvPr/>
        </p:nvSpPr>
        <p:spPr>
          <a:xfrm>
            <a:off x="6432550" y="2010408"/>
            <a:ext cx="48530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3A6"/>
                </a:solidFill>
                <a:latin typeface="JetBrains Mono" pitchFamily="49" charset="0"/>
                <a:ea typeface="JetBrains Mono" pitchFamily="49" charset="-122"/>
                <a:cs typeface="JetBrains Mono" pitchFamily="49" charset="-120"/>
              </a:rPr>
              <a:t>security-reviewer · agent</a:t>
            </a:r>
            <a:endParaRPr lang="en-US" sz="1300" dirty="0"/>
          </a:p>
        </p:txBody>
      </p:sp>
      <p:sp>
        <p:nvSpPr>
          <p:cNvPr id="10" name="Text 8"/>
          <p:cNvSpPr/>
          <p:nvPr/>
        </p:nvSpPr>
        <p:spPr>
          <a:xfrm>
            <a:off x="6432550" y="2330450"/>
            <a:ext cx="48530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reviewer you call </a:t>
            </a:r>
            <a:r>
              <a:rPr lang="en-US" sz="1300" b="1" dirty="0">
                <a:solidFill>
                  <a:srgbClr val="16202E"/>
                </a:solidFill>
                <a:latin typeface="IBM Plex Sans" pitchFamily="34" charset="0"/>
                <a:ea typeface="IBM Plex Sans" pitchFamily="34" charset="-122"/>
                <a:cs typeface="IBM Plex Sans" pitchFamily="34" charset="-120"/>
              </a:rPr>
              <a:t>after coding</a:t>
            </a:r>
            <a:r>
              <a:rPr lang="en-US" sz="1300" dirty="0">
                <a:solidFill>
                  <a:srgbClr val="4A5568"/>
                </a:solidFill>
                <a:latin typeface="IBM Plex Sans" pitchFamily="34" charset="0"/>
                <a:ea typeface="IBM Plex Sans" pitchFamily="34" charset="-122"/>
                <a:cs typeface="IBM Plex Sans" pitchFamily="34" charset="-120"/>
              </a:rPr>
              <a:t>: "Use the security-reviewer agent on this branch."</a:t>
            </a:r>
            <a:endParaRPr lang="en-US" sz="1300" dirty="0"/>
          </a:p>
        </p:txBody>
      </p:sp>
      <p:sp>
        <p:nvSpPr>
          <p:cNvPr id="11" name="Text 9"/>
          <p:cNvSpPr/>
          <p:nvPr/>
        </p:nvSpPr>
        <p:spPr>
          <a:xfrm>
            <a:off x="6432550" y="2881629"/>
            <a:ext cx="4853051"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02E"/>
                </a:solidFill>
                <a:latin typeface="IBM Plex Sans" pitchFamily="34" charset="0"/>
                <a:ea typeface="IBM Plex Sans" pitchFamily="34" charset="-122"/>
                <a:cs typeface="IBM Plex Sans" pitchFamily="34" charset="-120"/>
              </a:rPr>
              <a:t>npm audit + eslint security · OWASP Top 10 · risky patterns by severity</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3862071"/>
          <a:ext cx="10553700" cy="1078230"/>
        </p:xfrm>
        <a:graphic>
          <a:graphicData uri="http://schemas.openxmlformats.org/drawingml/2006/table">
            <a:tbl>
              <a:tblPr/>
              <a:tblGrid>
                <a:gridCol w="2532888"/>
                <a:gridCol w="8020812"/>
              </a:tblGrid>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Untested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Neither ran in our tests; ECC's always-on security rule + TDD did the work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JavaScript-focused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npm scanners, TS examples; nothing Go-specific for our backend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Not an ISO audit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A solid OWASP-based checklist; no compliance evidence on its own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GRAPHIFY</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A code map Claude asks instead of searching</a:t>
            </a:r>
            <a:endParaRPr lang="en-US" sz="3000" dirty="0"/>
          </a:p>
        </p:txBody>
      </p:sp>
      <p:sp>
        <p:nvSpPr>
          <p:cNvPr id="4" name="Shape 2"/>
          <p:cNvSpPr/>
          <p:nvPr/>
        </p:nvSpPr>
        <p:spPr>
          <a:xfrm>
            <a:off x="815975" y="1885317"/>
            <a:ext cx="2235200" cy="775970"/>
          </a:xfrm>
          <a:prstGeom prst="roundRect">
            <a:avLst>
              <a:gd name="adj" fmla="val 12684"/>
            </a:avLst>
          </a:prstGeom>
          <a:solidFill>
            <a:srgbClr val="FDFCF9"/>
          </a:solidFill>
          <a:ln w="6350">
            <a:solidFill>
              <a:srgbClr val="E2DFD6"/>
            </a:solidFill>
            <a:prstDash val="solid"/>
          </a:ln>
        </p:spPr>
      </p:sp>
      <p:sp>
        <p:nvSpPr>
          <p:cNvPr id="5" name="Text 3"/>
          <p:cNvSpPr/>
          <p:nvPr/>
        </p:nvSpPr>
        <p:spPr>
          <a:xfrm>
            <a:off x="971550" y="2040892"/>
            <a:ext cx="198177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Code files</a:t>
            </a:r>
            <a:endParaRPr lang="en-US" sz="1400" dirty="0"/>
          </a:p>
        </p:txBody>
      </p:sp>
      <p:sp>
        <p:nvSpPr>
          <p:cNvPr id="6" name="Text 4"/>
          <p:cNvSpPr/>
          <p:nvPr/>
        </p:nvSpPr>
        <p:spPr>
          <a:xfrm>
            <a:off x="971550" y="2292350"/>
            <a:ext cx="19817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Go, TS, …</a:t>
            </a:r>
            <a:endParaRPr lang="en-US" sz="1200" dirty="0"/>
          </a:p>
        </p:txBody>
      </p:sp>
      <p:pic>
        <p:nvPicPr>
          <p:cNvPr id="7" name="Image 0" descr="arrow-right">    </p:cNvPr>
          <p:cNvPicPr>
            <a:picLocks noChangeAspect="1"/>
          </p:cNvPicPr>
          <p:nvPr/>
        </p:nvPicPr>
        <p:blipFill>
          <a:blip r:embed="rId1"/>
          <a:srcRect l="0" r="0" t="0" b="0"/>
          <a:stretch/>
        </p:blipFill>
        <p:spPr>
          <a:xfrm>
            <a:off x="3181350" y="2190750"/>
            <a:ext cx="279400" cy="165100"/>
          </a:xfrm>
          <a:prstGeom prst="rect">
            <a:avLst/>
          </a:prstGeom>
        </p:spPr>
      </p:pic>
      <p:sp>
        <p:nvSpPr>
          <p:cNvPr id="8" name="Shape 5"/>
          <p:cNvSpPr/>
          <p:nvPr/>
        </p:nvSpPr>
        <p:spPr>
          <a:xfrm>
            <a:off x="3590925" y="1885317"/>
            <a:ext cx="2235200" cy="775970"/>
          </a:xfrm>
          <a:prstGeom prst="roundRect">
            <a:avLst>
              <a:gd name="adj" fmla="val 12684"/>
            </a:avLst>
          </a:prstGeom>
          <a:solidFill>
            <a:srgbClr val="FDFCF9"/>
          </a:solidFill>
          <a:ln w="6350">
            <a:solidFill>
              <a:srgbClr val="E2DFD6"/>
            </a:solidFill>
            <a:prstDash val="solid"/>
          </a:ln>
        </p:spPr>
      </p:sp>
      <p:sp>
        <p:nvSpPr>
          <p:cNvPr id="9" name="Text 6"/>
          <p:cNvSpPr/>
          <p:nvPr/>
        </p:nvSpPr>
        <p:spPr>
          <a:xfrm>
            <a:off x="3746500" y="2040892"/>
            <a:ext cx="198177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Parse (tree-sitter)</a:t>
            </a:r>
            <a:endParaRPr lang="en-US" sz="1400" dirty="0"/>
          </a:p>
        </p:txBody>
      </p:sp>
      <p:sp>
        <p:nvSpPr>
          <p:cNvPr id="10" name="Text 7"/>
          <p:cNvSpPr/>
          <p:nvPr/>
        </p:nvSpPr>
        <p:spPr>
          <a:xfrm>
            <a:off x="3746500" y="2292350"/>
            <a:ext cx="19817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local, free, no AI</a:t>
            </a:r>
            <a:endParaRPr lang="en-US" sz="1200" dirty="0"/>
          </a:p>
        </p:txBody>
      </p:sp>
      <p:pic>
        <p:nvPicPr>
          <p:cNvPr id="11" name="Image 1" descr="arrow-right">    </p:cNvPr>
          <p:cNvPicPr>
            <a:picLocks noChangeAspect="1"/>
          </p:cNvPicPr>
          <p:nvPr/>
        </p:nvPicPr>
        <p:blipFill>
          <a:blip r:embed="rId2"/>
          <a:srcRect l="0" r="0" t="0" b="0"/>
          <a:stretch/>
        </p:blipFill>
        <p:spPr>
          <a:xfrm>
            <a:off x="5956300" y="2190750"/>
            <a:ext cx="279400" cy="165100"/>
          </a:xfrm>
          <a:prstGeom prst="rect">
            <a:avLst/>
          </a:prstGeom>
        </p:spPr>
      </p:pic>
      <p:sp>
        <p:nvSpPr>
          <p:cNvPr id="12" name="Shape 8"/>
          <p:cNvSpPr/>
          <p:nvPr/>
        </p:nvSpPr>
        <p:spPr>
          <a:xfrm>
            <a:off x="6365875" y="1778633"/>
            <a:ext cx="2235200" cy="989330"/>
          </a:xfrm>
          <a:prstGeom prst="roundRect">
            <a:avLst>
              <a:gd name="adj" fmla="val 9949"/>
            </a:avLst>
          </a:prstGeom>
          <a:solidFill>
            <a:srgbClr val="FDFCF9"/>
          </a:solidFill>
          <a:ln w="6350">
            <a:solidFill>
              <a:srgbClr val="E2DFD6"/>
            </a:solidFill>
            <a:prstDash val="solid"/>
          </a:ln>
        </p:spPr>
      </p:sp>
      <p:sp>
        <p:nvSpPr>
          <p:cNvPr id="13" name="Text 9"/>
          <p:cNvSpPr/>
          <p:nvPr/>
        </p:nvSpPr>
        <p:spPr>
          <a:xfrm>
            <a:off x="6521450" y="1934208"/>
            <a:ext cx="198177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graph.json</a:t>
            </a:r>
            <a:endParaRPr lang="en-US" sz="1400" dirty="0"/>
          </a:p>
        </p:txBody>
      </p:sp>
      <p:sp>
        <p:nvSpPr>
          <p:cNvPr id="14" name="Text 10"/>
          <p:cNvSpPr/>
          <p:nvPr/>
        </p:nvSpPr>
        <p:spPr>
          <a:xfrm>
            <a:off x="6521450" y="2185671"/>
            <a:ext cx="19817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dots = functions, lines = calls</a:t>
            </a:r>
            <a:endParaRPr lang="en-US" sz="1200" dirty="0"/>
          </a:p>
        </p:txBody>
      </p:sp>
      <p:pic>
        <p:nvPicPr>
          <p:cNvPr id="15" name="Image 2" descr="arrow-right">    </p:cNvPr>
          <p:cNvPicPr>
            <a:picLocks noChangeAspect="1"/>
          </p:cNvPicPr>
          <p:nvPr/>
        </p:nvPicPr>
        <p:blipFill>
          <a:blip r:embed="rId3"/>
          <a:srcRect l="0" r="0" t="0" b="0"/>
          <a:stretch/>
        </p:blipFill>
        <p:spPr>
          <a:xfrm>
            <a:off x="8731250" y="2190750"/>
            <a:ext cx="279400" cy="165100"/>
          </a:xfrm>
          <a:prstGeom prst="rect">
            <a:avLst/>
          </a:prstGeom>
        </p:spPr>
      </p:pic>
      <p:sp>
        <p:nvSpPr>
          <p:cNvPr id="16" name="Shape 11"/>
          <p:cNvSpPr/>
          <p:nvPr/>
        </p:nvSpPr>
        <p:spPr>
          <a:xfrm>
            <a:off x="9140825" y="1885317"/>
            <a:ext cx="2235200" cy="775970"/>
          </a:xfrm>
          <a:prstGeom prst="roundRect">
            <a:avLst>
              <a:gd name="adj" fmla="val 12684"/>
            </a:avLst>
          </a:prstGeom>
          <a:solidFill>
            <a:srgbClr val="FDFCF9"/>
          </a:solidFill>
          <a:ln w="6350">
            <a:solidFill>
              <a:srgbClr val="E2DFD6"/>
            </a:solidFill>
            <a:prstDash val="solid"/>
          </a:ln>
        </p:spPr>
      </p:sp>
      <p:sp>
        <p:nvSpPr>
          <p:cNvPr id="17" name="Text 12"/>
          <p:cNvSpPr/>
          <p:nvPr/>
        </p:nvSpPr>
        <p:spPr>
          <a:xfrm>
            <a:off x="9296400" y="2040892"/>
            <a:ext cx="198177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Claude asks the map</a:t>
            </a:r>
            <a:endParaRPr lang="en-US" sz="1400" dirty="0"/>
          </a:p>
        </p:txBody>
      </p:sp>
      <p:sp>
        <p:nvSpPr>
          <p:cNvPr id="18" name="Text 13"/>
          <p:cNvSpPr/>
          <p:nvPr/>
        </p:nvSpPr>
        <p:spPr>
          <a:xfrm>
            <a:off x="9296400" y="2292350"/>
            <a:ext cx="19817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CLAUDE.md rule + 2 hooks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5500" y="3037842"/>
          <a:ext cx="10553700" cy="1797050"/>
        </p:xfrm>
        <a:graphic>
          <a:graphicData uri="http://schemas.openxmlformats.org/drawingml/2006/table">
            <a:tbl>
              <a:tblPr/>
              <a:tblGrid>
                <a:gridCol w="2743962"/>
                <a:gridCol w="4854702"/>
                <a:gridCol w="2955036"/>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Command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Like…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query "text"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Matches words to names, spreads to neighbours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keyword search on the map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explain 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One function + everything linked to it, with lines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"show me this spot"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affected 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Everything that depends on X, followed backwards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"if this road closes…"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path A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A chain of calls from A to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route planner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
        <p:nvSpPr>
          <p:cNvPr id="20" name="Text 14"/>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uv tool install graphifyy · graphify update . · graphify claude install · tested v0.9.67</a:t>
            </a:r>
            <a:endParaRPr lang="en-US" sz="1200" dirty="0"/>
          </a:p>
        </p:txBody>
      </p:sp>
      <p:sp>
        <p:nvSpPr>
          <p:cNvPr id="21" name="Text 15"/>
          <p:cNvSpPr/>
          <p:nvPr/>
        </p:nvSpPr>
        <p:spPr>
          <a:xfrm>
            <a:off x="8712200" y="6187442"/>
            <a:ext cx="2667000" cy="314960"/>
          </a:xfrm>
          <a:prstGeom prst="roundRect">
            <a:avLst>
              <a:gd name="adj" fmla="val 50000"/>
            </a:avLst>
          </a:prstGeom>
          <a:solidFill>
            <a:srgbClr val="2B63A6"/>
          </a:solidFill>
          <a:ln/>
        </p:spPr>
        <p:txBody>
          <a:bodyPr wrap="none" lIns="44681" tIns="4676" rIns="44681" bIns="0" rtlCol="0" anchor="t">
            <a:normAutofit/>
          </a:bodyPr>
          <a:lstStyle/>
          <a:p>
            <a:pPr algn="ctr"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 DEMO · graph.html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EVALUATION A · WORKFLOWS</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One app, three setups, two tickets</a:t>
            </a:r>
            <a:endParaRPr lang="en-US" sz="3000" dirty="0"/>
          </a:p>
        </p:txBody>
      </p:sp>
      <p:sp>
        <p:nvSpPr>
          <p:cNvPr id="4" name="Text 2"/>
          <p:cNvSpPr/>
          <p:nvPr/>
        </p:nvSpPr>
        <p:spPr>
          <a:xfrm>
            <a:off x="812800" y="1775458"/>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Test bed: mini-kouventa</a:t>
            </a:r>
            <a:endParaRPr lang="en-US" sz="1600" dirty="0"/>
          </a:p>
        </p:txBody>
      </p:sp>
      <p:sp>
        <p:nvSpPr>
          <p:cNvPr id="5" name="Text 3"/>
          <p:cNvSpPr/>
          <p:nvPr/>
        </p:nvSpPr>
        <p:spPr>
          <a:xfrm>
            <a:off x="815975" y="2124075"/>
            <a:ext cx="1424517" cy="422910"/>
          </a:xfrm>
          <a:prstGeom prst="roundRect">
            <a:avLst>
              <a:gd name="adj" fmla="val 17267"/>
            </a:avLst>
          </a:prstGeom>
          <a:solidFill>
            <a:srgbClr val="FDFCF9"/>
          </a:solidFill>
          <a:ln w="6350">
            <a:solidFill>
              <a:srgbClr val="E2DFD6"/>
            </a:solidFill>
            <a:prstDash val="solid"/>
          </a:ln>
        </p:spPr>
        <p:txBody>
          <a:bodyPr wrap="square" lIns="57987" tIns="83387" rIns="57987" bIns="57987" rtlCol="0" anchor="t">
            <a:normAutofit/>
          </a:bodyPr>
          <a:lstStyle/>
          <a:p>
            <a:pPr algn="ct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Next.js inbox</a:t>
            </a:r>
            <a:endParaRPr lang="en-US" sz="1200" dirty="0"/>
          </a:p>
        </p:txBody>
      </p:sp>
      <p:pic>
        <p:nvPicPr>
          <p:cNvPr id="6" name="Image 0" descr="arrow-right">    </p:cNvPr>
          <p:cNvPicPr>
            <a:picLocks noChangeAspect="1"/>
          </p:cNvPicPr>
          <p:nvPr/>
        </p:nvPicPr>
        <p:blipFill>
          <a:blip r:embed="rId1"/>
          <a:srcRect l="0" r="0" t="0" b="0"/>
          <a:stretch/>
        </p:blipFill>
        <p:spPr>
          <a:xfrm>
            <a:off x="2332567" y="2265679"/>
            <a:ext cx="254000" cy="139700"/>
          </a:xfrm>
          <a:prstGeom prst="rect">
            <a:avLst/>
          </a:prstGeom>
        </p:spPr>
      </p:pic>
      <p:sp>
        <p:nvSpPr>
          <p:cNvPr id="7" name="Text 4"/>
          <p:cNvSpPr/>
          <p:nvPr/>
        </p:nvSpPr>
        <p:spPr>
          <a:xfrm>
            <a:off x="2678642" y="2124075"/>
            <a:ext cx="1424517" cy="422910"/>
          </a:xfrm>
          <a:prstGeom prst="roundRect">
            <a:avLst>
              <a:gd name="adj" fmla="val 17267"/>
            </a:avLst>
          </a:prstGeom>
          <a:solidFill>
            <a:srgbClr val="FDFCF9"/>
          </a:solidFill>
          <a:ln w="6350">
            <a:solidFill>
              <a:srgbClr val="E2DFD6"/>
            </a:solidFill>
            <a:prstDash val="solid"/>
          </a:ln>
        </p:spPr>
        <p:txBody>
          <a:bodyPr wrap="square" lIns="57987" tIns="83387" rIns="57987" bIns="57987" rtlCol="0" anchor="t">
            <a:normAutofit/>
          </a:bodyPr>
          <a:lstStyle/>
          <a:p>
            <a:pPr algn="ct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Go API</a:t>
            </a:r>
            <a:endParaRPr lang="en-US" sz="1200" dirty="0"/>
          </a:p>
        </p:txBody>
      </p:sp>
      <p:pic>
        <p:nvPicPr>
          <p:cNvPr id="8" name="Image 1" descr="arrow-right">    </p:cNvPr>
          <p:cNvPicPr>
            <a:picLocks noChangeAspect="1"/>
          </p:cNvPicPr>
          <p:nvPr/>
        </p:nvPicPr>
        <p:blipFill>
          <a:blip r:embed="rId2"/>
          <a:srcRect l="0" r="0" t="0" b="0"/>
          <a:stretch/>
        </p:blipFill>
        <p:spPr>
          <a:xfrm>
            <a:off x="4195233" y="2265679"/>
            <a:ext cx="254000" cy="139700"/>
          </a:xfrm>
          <a:prstGeom prst="rect">
            <a:avLst/>
          </a:prstGeom>
        </p:spPr>
      </p:pic>
      <p:sp>
        <p:nvSpPr>
          <p:cNvPr id="9" name="Text 5"/>
          <p:cNvSpPr/>
          <p:nvPr/>
        </p:nvSpPr>
        <p:spPr>
          <a:xfrm>
            <a:off x="4541308" y="2124075"/>
            <a:ext cx="1424517" cy="422910"/>
          </a:xfrm>
          <a:prstGeom prst="roundRect">
            <a:avLst>
              <a:gd name="adj" fmla="val 17267"/>
            </a:avLst>
          </a:prstGeom>
          <a:solidFill>
            <a:srgbClr val="FDFCF9"/>
          </a:solidFill>
          <a:ln w="6350">
            <a:solidFill>
              <a:srgbClr val="E2DFD6"/>
            </a:solidFill>
            <a:prstDash val="solid"/>
          </a:ln>
        </p:spPr>
        <p:txBody>
          <a:bodyPr wrap="square" lIns="57987" tIns="83387" rIns="57987" bIns="57987" rtlCol="0" anchor="t">
            <a:normAutofit/>
          </a:bodyPr>
          <a:lstStyle/>
          <a:p>
            <a:pPr algn="ct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Firestore</a:t>
            </a:r>
            <a:endParaRPr lang="en-US" sz="1200" dirty="0"/>
          </a:p>
        </p:txBody>
      </p:sp>
      <p:sp>
        <p:nvSpPr>
          <p:cNvPr id="10" name="Text 6"/>
          <p:cNvSpPr/>
          <p:nvPr/>
        </p:nvSpPr>
        <p:spPr>
          <a:xfrm>
            <a:off x="812800" y="2651758"/>
            <a:ext cx="531088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small Kouventa-style inbox: rooms with a status (bot, idle, assigned, closed), live chat, design-system rules. Every run starts from the </a:t>
            </a:r>
            <a:r>
              <a:rPr lang="en-US" sz="1300" b="1" dirty="0">
                <a:solidFill>
                  <a:srgbClr val="16202E"/>
                </a:solidFill>
                <a:latin typeface="IBM Plex Sans" pitchFamily="34" charset="0"/>
                <a:ea typeface="IBM Plex Sans" pitchFamily="34" charset="-122"/>
                <a:cs typeface="IBM Plex Sans" pitchFamily="34" charset="-120"/>
              </a:rPr>
              <a:t>same clean commit</a:t>
            </a:r>
            <a:r>
              <a:rPr lang="en-US" sz="1300" dirty="0">
                <a:solidFill>
                  <a:srgbClr val="4A5568"/>
                </a:solidFill>
                <a:latin typeface="IBM Plex Sans" pitchFamily="34" charset="0"/>
                <a:ea typeface="IBM Plex Sans" pitchFamily="34" charset="-122"/>
                <a:cs typeface="IBM Plex Sans" pitchFamily="34" charset="-120"/>
              </a:rPr>
              <a:t> in its own folder.</a:t>
            </a:r>
            <a:endParaRPr lang="en-US" sz="1300" dirty="0"/>
          </a:p>
        </p:txBody>
      </p:sp>
      <p:sp>
        <p:nvSpPr>
          <p:cNvPr id="11" name="Text 7"/>
          <p:cNvSpPr/>
          <p:nvPr/>
        </p:nvSpPr>
        <p:spPr>
          <a:xfrm>
            <a:off x="812800" y="3446779"/>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Two tickets</a:t>
            </a:r>
            <a:endParaRPr lang="en-US" sz="1600" dirty="0"/>
          </a:p>
        </p:txBody>
      </p:sp>
      <p:sp>
        <p:nvSpPr>
          <p:cNvPr id="12" name="Text 8"/>
          <p:cNvSpPr/>
          <p:nvPr/>
        </p:nvSpPr>
        <p:spPr>
          <a:xfrm>
            <a:off x="812800" y="3792221"/>
            <a:ext cx="5310886"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F1 Room Notes:</a:t>
            </a:r>
            <a:r>
              <a:rPr lang="en-US" sz="1300" dirty="0">
                <a:solidFill>
                  <a:srgbClr val="4A5568"/>
                </a:solidFill>
                <a:latin typeface="IBM Plex Sans" pitchFamily="34" charset="0"/>
                <a:ea typeface="IBM Plex Sans" pitchFamily="34" charset="-122"/>
                <a:cs typeface="IBM Plex Sans" pitchFamily="34" charset="-120"/>
              </a:rPr>
              <a:t> fully specified, routine</a:t>
            </a:r>
            <a:endParaRPr lang="en-US" sz="1300" dirty="0"/>
          </a:p>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F2 Claim + SLA:</a:t>
            </a:r>
            <a:r>
              <a:rPr lang="en-US" sz="1300" dirty="0">
                <a:solidFill>
                  <a:srgbClr val="4A5568"/>
                </a:solidFill>
                <a:latin typeface="IBM Plex Sans" pitchFamily="34" charset="0"/>
                <a:ea typeface="IBM Plex Sans" pitchFamily="34" charset="-122"/>
                <a:cs typeface="IBM Plex Sans" pitchFamily="34" charset="-120"/>
              </a:rPr>
              <a:t> thin, realistic ticket; hidden </a:t>
            </a:r>
            <a:r>
              <a:rPr lang="en-US" sz="1300" b="1" dirty="0">
                <a:solidFill>
                  <a:srgbClr val="16202E"/>
                </a:solidFill>
                <a:latin typeface="IBM Plex Sans" pitchFamily="34" charset="0"/>
                <a:ea typeface="IBM Plex Sans" pitchFamily="34" charset="-122"/>
                <a:cs typeface="IBM Plex Sans" pitchFamily="34" charset="-120"/>
              </a:rPr>
              <a:t>race condition</a:t>
            </a:r>
            <a:r>
              <a:rPr lang="en-US" sz="1300" dirty="0">
                <a:solidFill>
                  <a:srgbClr val="4A5568"/>
                </a:solidFill>
                <a:latin typeface="IBM Plex Sans" pitchFamily="34" charset="0"/>
                <a:ea typeface="IBM Plex Sans" pitchFamily="34" charset="-122"/>
                <a:cs typeface="IBM Plex Sans" pitchFamily="34" charset="-120"/>
              </a:rPr>
              <a:t> (two agents claim at once)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35700" y="1788158"/>
          <a:ext cx="5143500" cy="1384300"/>
        </p:xfrm>
        <a:graphic>
          <a:graphicData uri="http://schemas.openxmlformats.org/drawingml/2006/table">
            <a:tbl>
              <a:tblPr/>
              <a:tblGrid>
                <a:gridCol w="1234440"/>
                <a:gridCol w="3909060"/>
              </a:tblGrid>
              <a:tr h="346075">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Setup</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Workflow it followed (its own docs)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Plain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Paste the ticket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Matt Pocock</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grill → spec → tickets → implement per ticket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ECC</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/ecc:plan → tdd-workflow → code review → fix</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4" name="Text 9"/>
          <p:cNvSpPr/>
          <p:nvPr/>
        </p:nvSpPr>
        <p:spPr>
          <a:xfrm>
            <a:off x="6223000" y="3274058"/>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Kept fair</a:t>
            </a:r>
            <a:endParaRPr lang="en-US" sz="1600" dirty="0"/>
          </a:p>
        </p:txBody>
      </p:sp>
      <p:sp>
        <p:nvSpPr>
          <p:cNvPr id="15" name="Text 10"/>
          <p:cNvSpPr/>
          <p:nvPr/>
        </p:nvSpPr>
        <p:spPr>
          <a:xfrm>
            <a:off x="6315075" y="3619500"/>
            <a:ext cx="5211191" cy="1182688"/>
          </a:xfrm>
          <a:prstGeom prst="rect">
            <a:avLst/>
          </a:prstGeom>
          <a:noFill/>
          <a:ln/>
        </p:spPr>
        <p:txBody>
          <a:bodyPr wrap="square" lIns="0" tIns="0" rIns="0" bIns="0" rtlCol="0" anchor="t">
            <a:normAutofit/>
          </a:bodyPr>
          <a:lstStyle/>
          <a:p>
            <a:pPr algn="l" marL="161925" indent="-161925">
              <a:lnSpc>
                <a:spcPts val="1813"/>
              </a:lnSpc>
              <a:buSzPct val="100000"/>
              <a:buChar char="•"/>
            </a:pPr>
            <a:r>
              <a:rPr lang="en-US" sz="1250" dirty="0">
                <a:solidFill>
                  <a:srgbClr val="4A5568"/>
                </a:solidFill>
                <a:latin typeface="IBM Plex Sans" pitchFamily="34" charset="0"/>
                <a:ea typeface="IBM Plex Sans" pitchFamily="34" charset="-122"/>
                <a:cs typeface="IBM Plex Sans" pitchFamily="34" charset="-120"/>
              </a:rPr>
              <a:t>Same model (Opus 5.5, medium), auto mode, frozen prompts</a:t>
            </a:r>
            <a:endParaRPr lang="en-US" sz="1250" dirty="0"/>
          </a:p>
          <a:p>
            <a:pPr algn="l" marL="161925" indent="-161925">
              <a:lnSpc>
                <a:spcPts val="1813"/>
              </a:lnSpc>
              <a:buSzPct val="100000"/>
              <a:buChar char="•"/>
            </a:pPr>
            <a:r>
              <a:rPr lang="en-US" sz="1250" dirty="0">
                <a:solidFill>
                  <a:srgbClr val="4A5568"/>
                </a:solidFill>
                <a:latin typeface="IBM Plex Sans" pitchFamily="34" charset="0"/>
                <a:ea typeface="IBM Plex Sans" pitchFamily="34" charset="-122"/>
                <a:cs typeface="IBM Plex Sans" pitchFamily="34" charset="-120"/>
              </a:rPr>
              <a:t>Questions answered only from a fixed "product owner" sheet</a:t>
            </a:r>
            <a:endParaRPr lang="en-US" sz="1250" dirty="0"/>
          </a:p>
          <a:p>
            <a:pPr algn="l" marL="161925" indent="-161925">
              <a:lnSpc>
                <a:spcPts val="1813"/>
              </a:lnSpc>
              <a:buSzPct val="100000"/>
              <a:buChar char="•"/>
            </a:pPr>
            <a:r>
              <a:rPr lang="en-US" sz="1250" dirty="0">
                <a:solidFill>
                  <a:srgbClr val="4A5568"/>
                </a:solidFill>
                <a:latin typeface="IBM Plex Sans" pitchFamily="34" charset="0"/>
                <a:ea typeface="IBM Plex Sans" pitchFamily="34" charset="-122"/>
                <a:cs typeface="IBM Plex Sans" pitchFamily="34" charset="-120"/>
              </a:rPr>
              <a:t>Automated API checkers, incl. </a:t>
            </a:r>
            <a:r>
              <a:rPr lang="en-US" sz="1250" b="1" dirty="0">
                <a:solidFill>
                  <a:srgbClr val="16202E"/>
                </a:solidFill>
                <a:latin typeface="IBM Plex Sans" pitchFamily="34" charset="0"/>
                <a:ea typeface="IBM Plex Sans" pitchFamily="34" charset="-122"/>
                <a:cs typeface="IBM Plex Sans" pitchFamily="34" charset="-120"/>
              </a:rPr>
              <a:t>10 agents claiming 1 room at once × 5</a:t>
            </a:r>
            <a:endParaRPr lang="en-US" sz="1250" dirty="0"/>
          </a:p>
          <a:p>
            <a:pPr algn="l" marL="161925" indent="-161925">
              <a:lnSpc>
                <a:spcPts val="1813"/>
              </a:lnSpc>
              <a:buSzPct val="100000"/>
              <a:buChar char="•"/>
            </a:pPr>
            <a:r>
              <a:rPr lang="en-US" sz="1250" dirty="0">
                <a:solidFill>
                  <a:srgbClr val="4A5568"/>
                </a:solidFill>
                <a:latin typeface="IBM Plex Sans" pitchFamily="34" charset="0"/>
                <a:ea typeface="IBM Plex Sans" pitchFamily="34" charset="-122"/>
                <a:cs typeface="IBM Plex Sans" pitchFamily="34" charset="-120"/>
              </a:rPr>
              <a:t>All 6 branches code-reviewed afterwards</a:t>
            </a:r>
            <a:endParaRPr lang="en-US" sz="1250" dirty="0"/>
          </a:p>
        </p:txBody>
      </p:sp>
      <p:sp>
        <p:nvSpPr>
          <p:cNvPr id="16" name="Text 11"/>
          <p:cNvSpPr/>
          <p:nvPr/>
        </p:nvSpPr>
        <p:spPr>
          <a:xfrm>
            <a:off x="7823200" y="6187442"/>
            <a:ext cx="3556000" cy="314960"/>
          </a:xfrm>
          <a:prstGeom prst="roundRect">
            <a:avLst>
              <a:gd name="adj" fmla="val 50000"/>
            </a:avLst>
          </a:prstGeom>
          <a:solidFill>
            <a:srgbClr val="2B63A6"/>
          </a:solidFill>
          <a:ln/>
        </p:spPr>
        <p:txBody>
          <a:bodyPr wrap="none" lIns="31346" tIns="4676" rIns="31346" bIns="0" rtlCol="0" anchor="t">
            <a:normAutofit/>
          </a:bodyPr>
          <a:lstStyle/>
          <a:p>
            <a:pPr algn="ctr"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 DEMO · mini-kouventa app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1662534"/>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2A65A"/>
                </a:solidFill>
                <a:latin typeface="JetBrains Mono" pitchFamily="49" charset="0"/>
                <a:ea typeface="JetBrains Mono" pitchFamily="49" charset="-122"/>
                <a:cs typeface="JetBrains Mono" pitchFamily="49" charset="-120"/>
              </a:rPr>
              <a:t>RESULT 1</a:t>
            </a:r>
            <a:endParaRPr lang="en-US" sz="1400" dirty="0"/>
          </a:p>
        </p:txBody>
      </p:sp>
      <p:sp>
        <p:nvSpPr>
          <p:cNvPr id="3" name="Text 1"/>
          <p:cNvSpPr/>
          <p:nvPr>
            <p:ph type="title"/>
          </p:nvPr>
        </p:nvSpPr>
        <p:spPr>
          <a:xfrm>
            <a:off x="812800" y="2216255"/>
            <a:ext cx="10883392" cy="1342178"/>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6F5F1"/>
                </a:solidFill>
                <a:latin typeface="IBM Plex Sans" pitchFamily="34" charset="0"/>
                <a:ea typeface="IBM Plex Sans" pitchFamily="34" charset="-122"/>
                <a:cs typeface="IBM Plex Sans" pitchFamily="34" charset="-120"/>
              </a:rPr>
              <a:t>All three setups shipped correct code.</a:t>
            </a:r>
            <a:endParaRPr lang="en-US" sz="4800" dirty="0"/>
          </a:p>
        </p:txBody>
      </p:sp>
      <p:sp>
        <p:nvSpPr>
          <p:cNvPr id="4" name="Text 2"/>
          <p:cNvSpPr/>
          <p:nvPr/>
        </p:nvSpPr>
        <p:spPr>
          <a:xfrm>
            <a:off x="812800" y="3837837"/>
            <a:ext cx="22208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A65A"/>
                </a:solidFill>
                <a:latin typeface="IBM Plex Sans" pitchFamily="34" charset="0"/>
                <a:ea typeface="IBM Plex Sans" pitchFamily="34" charset="-122"/>
                <a:cs typeface="IBM Plex Sans" pitchFamily="34" charset="-120"/>
              </a:rPr>
              <a:t>14/14</a:t>
            </a:r>
            <a:endParaRPr lang="en-US" sz="3600" dirty="0"/>
          </a:p>
        </p:txBody>
      </p:sp>
      <p:sp>
        <p:nvSpPr>
          <p:cNvPr id="5" name="Text 3"/>
          <p:cNvSpPr/>
          <p:nvPr/>
        </p:nvSpPr>
        <p:spPr>
          <a:xfrm>
            <a:off x="812800" y="4333137"/>
            <a:ext cx="251174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0"/>
                </a:solidFill>
                <a:latin typeface="IBM Plex Sans" pitchFamily="34" charset="0"/>
                <a:ea typeface="IBM Plex Sans" pitchFamily="34" charset="-122"/>
                <a:cs typeface="IBM Plex Sans" pitchFamily="34" charset="-120"/>
              </a:rPr>
              <a:t>F1 API checks, every setup</a:t>
            </a:r>
            <a:endParaRPr lang="en-US" sz="1400" dirty="0"/>
          </a:p>
        </p:txBody>
      </p:sp>
      <p:sp>
        <p:nvSpPr>
          <p:cNvPr id="6" name="Text 4"/>
          <p:cNvSpPr/>
          <p:nvPr/>
        </p:nvSpPr>
        <p:spPr>
          <a:xfrm>
            <a:off x="3324542" y="3837837"/>
            <a:ext cx="22208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A65A"/>
                </a:solidFill>
                <a:latin typeface="IBM Plex Sans" pitchFamily="34" charset="0"/>
                <a:ea typeface="IBM Plex Sans" pitchFamily="34" charset="-122"/>
                <a:cs typeface="IBM Plex Sans" pitchFamily="34" charset="-120"/>
              </a:rPr>
              <a:t>11/11</a:t>
            </a:r>
            <a:endParaRPr lang="en-US" sz="3600" dirty="0"/>
          </a:p>
        </p:txBody>
      </p:sp>
      <p:sp>
        <p:nvSpPr>
          <p:cNvPr id="7" name="Text 5"/>
          <p:cNvSpPr/>
          <p:nvPr/>
        </p:nvSpPr>
        <p:spPr>
          <a:xfrm>
            <a:off x="3324542" y="4333137"/>
            <a:ext cx="251174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0"/>
                </a:solidFill>
                <a:latin typeface="IBM Plex Sans" pitchFamily="34" charset="0"/>
                <a:ea typeface="IBM Plex Sans" pitchFamily="34" charset="-122"/>
                <a:cs typeface="IBM Plex Sans" pitchFamily="34" charset="-120"/>
              </a:rPr>
              <a:t>F2 API checks, every setup</a:t>
            </a:r>
            <a:endParaRPr lang="en-US" sz="1400" dirty="0"/>
          </a:p>
        </p:txBody>
      </p:sp>
      <p:sp>
        <p:nvSpPr>
          <p:cNvPr id="8" name="Text 6"/>
          <p:cNvSpPr/>
          <p:nvPr/>
        </p:nvSpPr>
        <p:spPr>
          <a:xfrm>
            <a:off x="5836285" y="3837837"/>
            <a:ext cx="201174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A65A"/>
                </a:solidFill>
                <a:latin typeface="IBM Plex Sans" pitchFamily="34" charset="0"/>
                <a:ea typeface="IBM Plex Sans" pitchFamily="34" charset="-122"/>
                <a:cs typeface="IBM Plex Sans" pitchFamily="34" charset="-120"/>
              </a:rPr>
              <a:t>1 winner</a:t>
            </a:r>
            <a:endParaRPr lang="en-US" sz="3600" dirty="0"/>
          </a:p>
        </p:txBody>
      </p:sp>
      <p:sp>
        <p:nvSpPr>
          <p:cNvPr id="9" name="Text 7"/>
          <p:cNvSpPr/>
          <p:nvPr/>
        </p:nvSpPr>
        <p:spPr>
          <a:xfrm>
            <a:off x="5836285" y="4333137"/>
            <a:ext cx="234378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0"/>
                </a:solidFill>
                <a:latin typeface="IBM Plex Sans" pitchFamily="34" charset="0"/>
                <a:ea typeface="IBM Plex Sans" pitchFamily="34" charset="-122"/>
                <a:cs typeface="IBM Plex Sans" pitchFamily="34" charset="-120"/>
              </a:rPr>
              <a:t>per room in the race test</a:t>
            </a:r>
            <a:endParaRPr lang="en-US" sz="1400" dirty="0"/>
          </a:p>
        </p:txBody>
      </p:sp>
      <p:sp>
        <p:nvSpPr>
          <p:cNvPr id="10" name="Text 8"/>
          <p:cNvSpPr/>
          <p:nvPr/>
        </p:nvSpPr>
        <p:spPr>
          <a:xfrm>
            <a:off x="812800" y="4886852"/>
            <a:ext cx="10883392"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8C2D0"/>
                </a:solidFill>
                <a:latin typeface="IBM Plex Sans" pitchFamily="34" charset="0"/>
                <a:ea typeface="IBM Plex Sans" pitchFamily="34" charset="-122"/>
                <a:cs typeface="IBM Plex Sans" pitchFamily="34" charset="-120"/>
              </a:rPr>
              <a:t>Plugins don't buy correctness here. They buy </a:t>
            </a:r>
            <a:r>
              <a:rPr lang="en-US" sz="1800" b="1" dirty="0">
                <a:solidFill>
                  <a:srgbClr val="F6F5F1"/>
                </a:solidFill>
                <a:latin typeface="IBM Plex Sans" pitchFamily="34" charset="0"/>
                <a:ea typeface="IBM Plex Sans" pitchFamily="34" charset="-122"/>
                <a:cs typeface="IBM Plex Sans" pitchFamily="34" charset="-120"/>
              </a:rPr>
              <a:t>process, edge-case quality, tests and docs</a:t>
            </a:r>
            <a:r>
              <a:rPr lang="en-US" sz="1800" dirty="0">
                <a:solidFill>
                  <a:srgbClr val="B8C2D0"/>
                </a:solidFill>
                <a:latin typeface="IBM Plex Sans" pitchFamily="34" charset="0"/>
                <a:ea typeface="IBM Plex Sans" pitchFamily="34" charset="-122"/>
                <a:cs typeface="IBM Plex Sans" pitchFamily="34" charset="-120"/>
              </a:rPr>
              <a:t>, at a cost.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RESULT 2 · COST AND FRICTION (BOTH TICKETS)</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Plain is cheapest; ECC beats Matt Pocock</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58"/>
          <a:ext cx="10553700" cy="2702560"/>
        </p:xfrm>
        <a:graphic>
          <a:graphicData uri="http://schemas.openxmlformats.org/drawingml/2006/table">
            <a:tbl>
              <a:tblPr/>
              <a:tblGrid>
                <a:gridCol w="4221480"/>
                <a:gridCol w="2110740"/>
                <a:gridCol w="2110740"/>
                <a:gridCol w="2110740"/>
              </a:tblGrid>
              <a:tr h="386080">
                <a:tc>
                  <a:txBody>
                    <a:bodyPr/>
                    <a:lstStyle/>
                    <a:p>
                      <a:pP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Measure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algn="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Plain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algn="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Matt Pocock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algn="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ECC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Usage (% of 5-hour Pro limit)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Active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18.6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81.4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59.9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Questions to the developer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Permission prompts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51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Frontend tests written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Extra context every turn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+0.5k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+13.7k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
        <p:nvSpPr>
          <p:cNvPr id="5" name="Text 2"/>
          <p:cNvSpPr/>
          <p:nvPr/>
        </p:nvSpPr>
        <p:spPr>
          <a:xfrm>
            <a:off x="812800" y="4744721"/>
            <a:ext cx="5337048"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Where usage went:</a:t>
            </a:r>
            <a:r>
              <a:rPr lang="en-US" sz="1300" dirty="0">
                <a:solidFill>
                  <a:srgbClr val="4A5568"/>
                </a:solidFill>
                <a:latin typeface="IBM Plex Sans" pitchFamily="34" charset="0"/>
                <a:ea typeface="IBM Plex Sans" pitchFamily="34" charset="-122"/>
                <a:cs typeface="IBM Plex Sans" pitchFamily="34" charset="-120"/>
              </a:rPr>
              <a:t> sessions with subagents 51% · ECC tdd-workflow 21% · Matt Pocock reviewers 15%</a:t>
            </a:r>
            <a:endParaRPr lang="en-US" sz="1300" dirty="0"/>
          </a:p>
        </p:txBody>
      </p:sp>
      <p:sp>
        <p:nvSpPr>
          <p:cNvPr id="6" name="Text 3"/>
          <p:cNvSpPr/>
          <p:nvPr/>
        </p:nvSpPr>
        <p:spPr>
          <a:xfrm>
            <a:off x="6197600" y="4744721"/>
            <a:ext cx="5337048"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Workflow shape beats plugin size:</a:t>
            </a:r>
            <a:r>
              <a:rPr lang="en-US" sz="1300" dirty="0">
                <a:solidFill>
                  <a:srgbClr val="4A5568"/>
                </a:solidFill>
                <a:latin typeface="IBM Plex Sans" pitchFamily="34" charset="0"/>
                <a:ea typeface="IBM Plex Sans" pitchFamily="34" charset="-122"/>
                <a:cs typeface="IBM Plex Sans" pitchFamily="34" charset="-120"/>
              </a:rPr>
              <a:t> MP's per-ticket Opus reviewers cost more than ECC's +13.7k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RESULT 3 · READING THE CODE OF ALL 6 RUNS</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The differences are at the edges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58"/>
          <a:ext cx="10553700" cy="3187700"/>
        </p:xfrm>
        <a:graphic>
          <a:graphicData uri="http://schemas.openxmlformats.org/drawingml/2006/table">
            <a:tbl>
              <a:tblPr/>
              <a:tblGrid>
                <a:gridCol w="3588258"/>
                <a:gridCol w="2321814"/>
                <a:gridCol w="2321814"/>
                <a:gridCol w="2321814"/>
              </a:tblGrid>
              <a:tr h="346075">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Check</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Plain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Matt Pocock</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ECC</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56832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Room-ID validation</a:t>
                      </a:r>
                      <a:endParaRPr lang="en-US" sz="1250" dirty="0">
                        <a:latin typeface="IBM Plex Sans" charset="0"/>
                        <a:ea typeface="IBM Plex Sans" charset="0"/>
                        <a:cs typeface="IBM Plex Sans" charset="0"/>
                      </a:endParaRPr>
                    </a:p>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can %2F reach another doc?</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1 of 2 tickets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1 of 2; F2 missed, unflagged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2 of 2, most thorough</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6832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Data consistency</a:t>
                      </a:r>
                      <a:endParaRPr lang="en-US" sz="1250" dirty="0">
                        <a:latin typeface="IBM Plex Sans" charset="0"/>
                        <a:ea typeface="IBM Plex Sans" charset="0"/>
                        <a:cs typeface="IBM Plex Sans" charset="0"/>
                      </a:endParaRPr>
                    </a:p>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wait time vs breach flag</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Can disagree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Consistent (reviewer fixed)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Consistent by design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56832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Product rule</a:t>
                      </a:r>
                      <a:endParaRPr lang="en-US" sz="1250" dirty="0">
                        <a:latin typeface="IBM Plex Sans" charset="0"/>
                        <a:ea typeface="IBM Plex Sans" charset="0"/>
                        <a:cs typeface="IBM Plex Sans" charset="0"/>
                      </a:endParaRPr>
                    </a:p>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badge only when unassigned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Guessed wrong</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Asked, got it right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Used its default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6832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Frontend state</a:t>
                      </a:r>
                      <a:endParaRPr lang="en-US" sz="1250" dirty="0">
                        <a:latin typeface="IBM Plex Sans" charset="0"/>
                        <a:ea typeface="IBM Plex Sans" charset="0"/>
                        <a:cs typeface="IBM Plex Sans" charset="0"/>
                      </a:endParaRPr>
                    </a:p>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stale tab, double claim</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2 bugs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0 bugs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2 bugs (found, left as MEDIUM)</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56832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Test depth</a:t>
                      </a:r>
                      <a:endParaRPr lang="en-US" sz="1250" dirty="0">
                        <a:latin typeface="IBM Plex Sans" charset="0"/>
                        <a:ea typeface="IBM Plex Sans" charset="0"/>
                        <a:cs typeface="IBM Plex Sans" charset="0"/>
                      </a:endParaRPr>
                    </a:p>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layers covered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Validation only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HTTP in F1; rules only in F2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HTTP both + database (F1)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5229858"/>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request flows </a:t>
            </a:r>
            <a:r>
              <a:rPr lang="en-US" sz="1300" b="1" dirty="0">
                <a:solidFill>
                  <a:srgbClr val="16202E"/>
                </a:solidFill>
                <a:latin typeface="IBM Plex Sans" pitchFamily="34" charset="0"/>
                <a:ea typeface="IBM Plex Sans" pitchFamily="34" charset="-122"/>
                <a:cs typeface="IBM Plex Sans" pitchFamily="34" charset="-120"/>
              </a:rPr>
              <a:t>HTTP handler → rules → database</a:t>
            </a:r>
            <a:r>
              <a:rPr lang="en-US" sz="1300" dirty="0">
                <a:solidFill>
                  <a:srgbClr val="4A5568"/>
                </a:solidFill>
                <a:latin typeface="IBM Plex Sans" pitchFamily="34" charset="0"/>
                <a:ea typeface="IBM Plex Sans" pitchFamily="34" charset="-122"/>
                <a:cs typeface="IBM Plex Sans" pitchFamily="34" charset="-120"/>
              </a:rPr>
              <a:t>. Testing only the rules skips the handler, where the ID check lives.</a:t>
            </a:r>
            <a:endParaRPr lang="en-US" sz="1300" dirty="0"/>
          </a:p>
        </p:txBody>
      </p:sp>
      <p:sp>
        <p:nvSpPr>
          <p:cNvPr id="6" name="Text 3"/>
          <p:cNvSpPr/>
          <p:nvPr/>
        </p:nvSpPr>
        <p:spPr>
          <a:xfrm>
            <a:off x="8204200" y="6187442"/>
            <a:ext cx="3175000" cy="314960"/>
          </a:xfrm>
          <a:prstGeom prst="roundRect">
            <a:avLst>
              <a:gd name="adj" fmla="val 50000"/>
            </a:avLst>
          </a:prstGeom>
          <a:solidFill>
            <a:srgbClr val="2B63A6"/>
          </a:solidFill>
          <a:ln/>
        </p:spPr>
        <p:txBody>
          <a:bodyPr wrap="none" lIns="37061" tIns="4676" rIns="37061" bIns="0" rtlCol="0" anchor="t">
            <a:normAutofit/>
          </a:bodyPr>
          <a:lstStyle/>
          <a:p>
            <a:pPr algn="ctr"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 DEMO · ID check in 2 branches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ANALYSIS · HEAD TO HEAD</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The builder and the thinker</a:t>
            </a:r>
            <a:endParaRPr lang="en-US" sz="3000" dirty="0"/>
          </a:p>
        </p:txBody>
      </p:sp>
      <p:sp>
        <p:nvSpPr>
          <p:cNvPr id="4" name="Shape 2"/>
          <p:cNvSpPr/>
          <p:nvPr/>
        </p:nvSpPr>
        <p:spPr>
          <a:xfrm>
            <a:off x="815975" y="1829433"/>
            <a:ext cx="5175250" cy="2473960"/>
          </a:xfrm>
          <a:prstGeom prst="roundRect">
            <a:avLst>
              <a:gd name="adj" fmla="val 3978"/>
            </a:avLst>
          </a:prstGeom>
          <a:solidFill>
            <a:srgbClr val="FDFCF9"/>
          </a:solidFill>
          <a:ln w="6350">
            <a:solidFill>
              <a:srgbClr val="E2DFD6"/>
            </a:solidFill>
            <a:prstDash val="solid"/>
          </a:ln>
        </p:spPr>
      </p:sp>
      <p:sp>
        <p:nvSpPr>
          <p:cNvPr id="5" name="Text 3"/>
          <p:cNvSpPr/>
          <p:nvPr/>
        </p:nvSpPr>
        <p:spPr>
          <a:xfrm>
            <a:off x="1073150" y="2086608"/>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63A6"/>
                </a:solidFill>
                <a:latin typeface="IBM Plex Sans" pitchFamily="34" charset="0"/>
                <a:ea typeface="IBM Plex Sans" pitchFamily="34" charset="-122"/>
                <a:cs typeface="IBM Plex Sans" pitchFamily="34" charset="-120"/>
              </a:rPr>
              <a:t>ECC wins</a:t>
            </a:r>
            <a:endParaRPr lang="en-US" sz="2000" dirty="0"/>
          </a:p>
        </p:txBody>
      </p:sp>
      <p:sp>
        <p:nvSpPr>
          <p:cNvPr id="6" name="Text 4"/>
          <p:cNvSpPr/>
          <p:nvPr/>
        </p:nvSpPr>
        <p:spPr>
          <a:xfrm>
            <a:off x="1151382" y="2493008"/>
            <a:ext cx="4714875" cy="106299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Cost and speed:</a:t>
            </a:r>
            <a:r>
              <a:rPr lang="en-US" sz="1400" dirty="0">
                <a:solidFill>
                  <a:srgbClr val="4A5568"/>
                </a:solidFill>
                <a:latin typeface="IBM Plex Sans" pitchFamily="34" charset="0"/>
                <a:ea typeface="IBM Plex Sans" pitchFamily="34" charset="-122"/>
                <a:cs typeface="IBM Plex Sans" pitchFamily="34" charset="-120"/>
              </a:rPr>
              <a:t> 26% vs 41%, 60 vs 81 min</a:t>
            </a:r>
            <a:endParaRPr lang="en-US" sz="1400" dirty="0"/>
          </a:p>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Fewer interruptions:</a:t>
            </a:r>
            <a:r>
              <a:rPr lang="en-US" sz="1400" dirty="0">
                <a:solidFill>
                  <a:srgbClr val="4A5568"/>
                </a:solidFill>
                <a:latin typeface="IBM Plex Sans" pitchFamily="34" charset="0"/>
                <a:ea typeface="IBM Plex Sans" pitchFamily="34" charset="-122"/>
                <a:cs typeface="IBM Plex Sans" pitchFamily="34" charset="-120"/>
              </a:rPr>
              <a:t> 4 vs 26 questions</a:t>
            </a:r>
            <a:endParaRPr lang="en-US" sz="1400" dirty="0"/>
          </a:p>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Tests:</a:t>
            </a:r>
            <a:r>
              <a:rPr lang="en-US" sz="1400" dirty="0">
                <a:solidFill>
                  <a:srgbClr val="4A5568"/>
                </a:solidFill>
                <a:latin typeface="IBM Plex Sans" pitchFamily="34" charset="0"/>
                <a:ea typeface="IBM Plex Sans" pitchFamily="34" charset="-122"/>
                <a:cs typeface="IBM Plex Sans" pitchFamily="34" charset="-120"/>
              </a:rPr>
              <a:t> 41 vs 25, visible test-first commits</a:t>
            </a:r>
            <a:endParaRPr lang="en-US" sz="1400" dirty="0"/>
          </a:p>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Input validation:</a:t>
            </a:r>
            <a:r>
              <a:rPr lang="en-US" sz="1400" dirty="0">
                <a:solidFill>
                  <a:srgbClr val="4A5568"/>
                </a:solidFill>
                <a:latin typeface="IBM Plex Sans" pitchFamily="34" charset="0"/>
                <a:ea typeface="IBM Plex Sans" pitchFamily="34" charset="-122"/>
                <a:cs typeface="IBM Plex Sans" pitchFamily="34" charset="-120"/>
              </a:rPr>
              <a:t> 2 of 2 vs 1 of 2</a:t>
            </a:r>
            <a:endParaRPr lang="en-US" sz="1400" dirty="0"/>
          </a:p>
        </p:txBody>
      </p:sp>
      <p:sp>
        <p:nvSpPr>
          <p:cNvPr id="7" name="Shape 5"/>
          <p:cNvSpPr/>
          <p:nvPr/>
        </p:nvSpPr>
        <p:spPr>
          <a:xfrm>
            <a:off x="6200775" y="1829433"/>
            <a:ext cx="5175250" cy="2473960"/>
          </a:xfrm>
          <a:prstGeom prst="roundRect">
            <a:avLst>
              <a:gd name="adj" fmla="val 3978"/>
            </a:avLst>
          </a:prstGeom>
          <a:solidFill>
            <a:srgbClr val="FDFCF9"/>
          </a:solidFill>
          <a:ln w="6350">
            <a:solidFill>
              <a:srgbClr val="E2DFD6"/>
            </a:solidFill>
            <a:prstDash val="solid"/>
          </a:ln>
        </p:spPr>
      </p:sp>
      <p:sp>
        <p:nvSpPr>
          <p:cNvPr id="8" name="Text 6"/>
          <p:cNvSpPr/>
          <p:nvPr/>
        </p:nvSpPr>
        <p:spPr>
          <a:xfrm>
            <a:off x="6457950" y="2086608"/>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531A"/>
                </a:solidFill>
                <a:latin typeface="IBM Plex Sans" pitchFamily="34" charset="0"/>
                <a:ea typeface="IBM Plex Sans" pitchFamily="34" charset="-122"/>
                <a:cs typeface="IBM Plex Sans" pitchFamily="34" charset="-120"/>
              </a:rPr>
              <a:t>Matt Pocock wins</a:t>
            </a:r>
            <a:endParaRPr lang="en-US" sz="2000" dirty="0"/>
          </a:p>
        </p:txBody>
      </p:sp>
      <p:sp>
        <p:nvSpPr>
          <p:cNvPr id="9" name="Text 7"/>
          <p:cNvSpPr/>
          <p:nvPr/>
        </p:nvSpPr>
        <p:spPr>
          <a:xfrm>
            <a:off x="6536182" y="2493008"/>
            <a:ext cx="4714875" cy="157861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Requirements:</a:t>
            </a:r>
            <a:r>
              <a:rPr lang="en-US" sz="1400" dirty="0">
                <a:solidFill>
                  <a:srgbClr val="4A5568"/>
                </a:solidFill>
                <a:latin typeface="IBM Plex Sans" pitchFamily="34" charset="0"/>
                <a:ea typeface="IBM Plex Sans" pitchFamily="34" charset="-122"/>
                <a:cs typeface="IBM Plex Sans" pitchFamily="34" charset="-120"/>
              </a:rPr>
              <a:t> asked the questions that changed the outcome</a:t>
            </a:r>
            <a:endParaRPr lang="en-US" sz="1400" dirty="0"/>
          </a:p>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Subtle bugs:</a:t>
            </a:r>
            <a:r>
              <a:rPr lang="en-US" sz="1400" dirty="0">
                <a:solidFill>
                  <a:srgbClr val="4A5568"/>
                </a:solidFill>
                <a:latin typeface="IBM Plex Sans" pitchFamily="34" charset="0"/>
                <a:ea typeface="IBM Plex Sans" pitchFamily="34" charset="-122"/>
                <a:cs typeface="IBM Plex Sans" pitchFamily="34" charset="-120"/>
              </a:rPr>
              <a:t> its spec reviewer fixed them</a:t>
            </a:r>
            <a:endParaRPr lang="en-US" sz="1400" dirty="0"/>
          </a:p>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Frontend state:</a:t>
            </a:r>
            <a:r>
              <a:rPr lang="en-US" sz="1400" dirty="0">
                <a:solidFill>
                  <a:srgbClr val="4A5568"/>
                </a:solidFill>
                <a:latin typeface="IBM Plex Sans" pitchFamily="34" charset="0"/>
                <a:ea typeface="IBM Plex Sans" pitchFamily="34" charset="-122"/>
                <a:cs typeface="IBM Plex Sans" pitchFamily="34" charset="-120"/>
              </a:rPr>
              <a:t> 0 known bugs vs 2</a:t>
            </a:r>
            <a:endParaRPr lang="en-US" sz="1400" dirty="0"/>
          </a:p>
          <a:p>
            <a:pPr algn="l" marL="175768" indent="-175768">
              <a:lnSpc>
                <a:spcPts val="2030"/>
              </a:lnSpc>
              <a:buSzPct val="100000"/>
              <a:buChar char="•"/>
            </a:pPr>
            <a:r>
              <a:rPr lang="en-US" sz="1400" b="1" dirty="0">
                <a:solidFill>
                  <a:srgbClr val="16202E"/>
                </a:solidFill>
                <a:latin typeface="IBM Plex Sans" pitchFamily="34" charset="0"/>
                <a:ea typeface="IBM Plex Sans" pitchFamily="34" charset="-122"/>
                <a:cs typeface="IBM Plex Sans" pitchFamily="34" charset="-120"/>
              </a:rPr>
              <a:t>Shared docs + safety:</a:t>
            </a:r>
            <a:r>
              <a:rPr lang="en-US" sz="1400" dirty="0">
                <a:solidFill>
                  <a:srgbClr val="4A5568"/>
                </a:solidFill>
                <a:latin typeface="IBM Plex Sans" pitchFamily="34" charset="0"/>
                <a:ea typeface="IBM Plex Sans" pitchFamily="34" charset="-122"/>
                <a:cs typeface="IBM Plex Sans" pitchFamily="34" charset="-120"/>
              </a:rPr>
              <a:t> spec, tickets, glossary; +0.5k context, no hooks</a:t>
            </a:r>
            <a:endParaRPr lang="en-US" sz="1400" dirty="0"/>
          </a:p>
        </p:txBody>
      </p:sp>
      <p:sp>
        <p:nvSpPr>
          <p:cNvPr id="10" name="Text 8"/>
          <p:cNvSpPr/>
          <p:nvPr/>
        </p:nvSpPr>
        <p:spPr>
          <a:xfrm>
            <a:off x="812800" y="461136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IBM Plex Sans" pitchFamily="34" charset="0"/>
                <a:ea typeface="IBM Plex Sans" pitchFamily="34" charset="-122"/>
                <a:cs typeface="IBM Plex Sans" pitchFamily="34" charset="-120"/>
              </a:rPr>
              <a:t>Each covers the other's weak spot, so </a:t>
            </a:r>
            <a:r>
              <a:rPr lang="en-US" sz="1500" b="1" dirty="0">
                <a:solidFill>
                  <a:srgbClr val="16202E"/>
                </a:solidFill>
                <a:latin typeface="IBM Plex Sans" pitchFamily="34" charset="0"/>
                <a:ea typeface="IBM Plex Sans" pitchFamily="34" charset="-122"/>
                <a:cs typeface="IBM Plex Sans" pitchFamily="34" charset="-120"/>
              </a:rPr>
              <a:t>combine their strengths</a:t>
            </a:r>
            <a:r>
              <a:rPr lang="en-US" sz="1500" dirty="0">
                <a:solidFill>
                  <a:srgbClr val="16202E"/>
                </a:solidFill>
                <a:latin typeface="IBM Plex Sans" pitchFamily="34" charset="0"/>
                <a:ea typeface="IBM Plex Sans" pitchFamily="34" charset="-122"/>
                <a:cs typeface="IBM Plex Sans" pitchFamily="34" charset="-120"/>
              </a:rPr>
              <a:t> instead of picking one.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Q2 ANSWER</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Which parts of ECC are worth taking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58"/>
          <a:ext cx="10553700" cy="3354705"/>
        </p:xfrm>
        <a:graphic>
          <a:graphicData uri="http://schemas.openxmlformats.org/drawingml/2006/table">
            <a:tbl>
              <a:tblPr/>
              <a:tblGrid>
                <a:gridCol w="3588258"/>
                <a:gridCol w="2110740"/>
                <a:gridCol w="4854702"/>
              </a:tblGrid>
              <a:tr h="372745">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Component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Verdict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Why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/ecc:plan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2B63A6"/>
                          </a:solidFill>
                          <a:latin typeface="IBM Plex Sans" pitchFamily="34" charset="0"/>
                          <a:ea typeface="IBM Plex Sans" pitchFamily="34" charset="-122"/>
                          <a:cs typeface="IBM Plex Sans" pitchFamily="34" charset="-120"/>
                        </a:rPr>
                        <a:t>Take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Risks with severity, few questions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tdd-workflow</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2B63A6"/>
                          </a:solidFill>
                          <a:latin typeface="IBM Plex Sans" pitchFamily="34" charset="0"/>
                          <a:ea typeface="IBM Plex Sans" pitchFamily="34" charset="-122"/>
                          <a:cs typeface="IBM Plex Sans" pitchFamily="34" charset="-120"/>
                        </a:rPr>
                        <a:t>Take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Most tests, HTTP and database layers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/ecc:code-review</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2B63A6"/>
                          </a:solidFill>
                          <a:latin typeface="IBM Plex Sans" pitchFamily="34" charset="0"/>
                          <a:ea typeface="IBM Plex Sans" pitchFamily="34" charset="-122"/>
                          <a:cs typeface="IBM Plex Sans" pitchFamily="34" charset="-120"/>
                        </a:rPr>
                        <a:t>Take, with a rule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Fix every behaviour bug, whatever its label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Rules (common, golang, ts, react)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2B63A6"/>
                          </a:solidFill>
                          <a:latin typeface="IBM Plex Sans" pitchFamily="34" charset="0"/>
                          <a:ea typeface="IBM Plex Sans" pitchFamily="34" charset="-122"/>
                          <a:cs typeface="IBM Plex Sans" pitchFamily="34" charset="-120"/>
                        </a:rPr>
                        <a:t>Take, tailored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Likely source of consistent validation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Stack + security reviewers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Optional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Plausible, but never ran in tests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GateGuard hook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B4531A"/>
                          </a:solidFill>
                          <a:latin typeface="IBM Plex Sans" pitchFamily="34" charset="0"/>
                          <a:ea typeface="IBM Plex Sans" pitchFamily="34" charset="-122"/>
                          <a:cs typeface="IBM Plex Sans" pitchFamily="34" charset="-120"/>
                        </a:rPr>
                        <a:t>Doubtful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34 blocks, no visible benefit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Session memory, auto-learning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B4531A"/>
                          </a:solidFill>
                          <a:latin typeface="IBM Plex Sans" pitchFamily="34" charset="0"/>
                          <a:ea typeface="IBM Plex Sans" pitchFamily="34" charset="-122"/>
                          <a:cs typeface="IBM Plex Sans" pitchFamily="34" charset="-120"/>
                        </a:rPr>
                        <a:t>Skip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Per laptop, automatic, not shared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Rest of the catalog (~86%)</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B4531A"/>
                          </a:solidFill>
                          <a:latin typeface="IBM Plex Sans" pitchFamily="34" charset="0"/>
                          <a:ea typeface="IBM Plex Sans" pitchFamily="34" charset="-122"/>
                          <a:cs typeface="IBM Plex Sans" pitchFamily="34" charset="-120"/>
                        </a:rPr>
                        <a:t>Skip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Other stacks; costs context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Q1 ANSWER · RECOMMENDED PILOT</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"Matt Pocock thinks, ECC builds"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2758"/>
          <a:ext cx="10553700" cy="1730375"/>
        </p:xfrm>
        <a:graphic>
          <a:graphicData uri="http://schemas.openxmlformats.org/drawingml/2006/table">
            <a:tbl>
              <a:tblPr/>
              <a:tblGrid>
                <a:gridCol w="2110740"/>
                <a:gridCol w="8442960"/>
              </a:tblGrid>
              <a:tr h="346075">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Ticket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Flow</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Small, clear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Plain Claude Code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Clear feature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/ecc:plan → "implement it using tdd-workflow" → /ecc:code-review → fix</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Unclear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/grill-with-docs → /to-spec → /ecc:plan on the spec → TDD → review → fix</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Multi-session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 /to-tickets → per ticket: /ecc:plan → TDD → review → /handoff + /clear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
        <p:nvSpPr>
          <p:cNvPr id="5" name="Text 2"/>
          <p:cNvSpPr/>
          <p:nvPr/>
        </p:nvSpPr>
        <p:spPr>
          <a:xfrm>
            <a:off x="812800" y="3721733"/>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Install</a:t>
            </a:r>
            <a:endParaRPr lang="en-US" sz="1500" dirty="0"/>
          </a:p>
        </p:txBody>
      </p:sp>
      <p:sp>
        <p:nvSpPr>
          <p:cNvPr id="6" name="Text 3"/>
          <p:cNvSpPr/>
          <p:nvPr/>
        </p:nvSpPr>
        <p:spPr>
          <a:xfrm>
            <a:off x="904875" y="4013833"/>
            <a:ext cx="5237353" cy="919162"/>
          </a:xfrm>
          <a:prstGeom prst="rect">
            <a:avLst/>
          </a:prstGeom>
          <a:noFill/>
          <a:ln/>
        </p:spPr>
        <p:txBody>
          <a:bodyPr wrap="square" lIns="0" tIns="0" rIns="0" bIns="0" rtlCol="0" anchor="t">
            <a:normAutofit/>
          </a:bodyPr>
          <a:lstStyle/>
          <a:p>
            <a:pPr algn="l" marL="161925" indent="-161925">
              <a:lnSpc>
                <a:spcPts val="1750"/>
              </a:lnSpc>
              <a:buSzPct val="100000"/>
              <a:buChar char="•"/>
            </a:pPr>
            <a:r>
              <a:rPr lang="en-US" sz="1250" dirty="0">
                <a:solidFill>
                  <a:srgbClr val="4A5568"/>
                </a:solidFill>
                <a:latin typeface="IBM Plex Sans" pitchFamily="34" charset="0"/>
                <a:ea typeface="IBM Plex Sans" pitchFamily="34" charset="-122"/>
                <a:cs typeface="IBM Plex Sans" pitchFamily="34" charset="-120"/>
              </a:rPr>
              <a:t>MP </a:t>
            </a:r>
            <a:r>
              <a:rPr lang="en-US" sz="1250" b="1" dirty="0">
                <a:solidFill>
                  <a:srgbClr val="16202E"/>
                </a:solidFill>
                <a:latin typeface="IBM Plex Sans" pitchFamily="34" charset="0"/>
                <a:ea typeface="IBM Plex Sans" pitchFamily="34" charset="-122"/>
                <a:cs typeface="IBM Plex Sans" pitchFamily="34" charset="-120"/>
              </a:rPr>
              <a:t>thinking skills only</a:t>
            </a:r>
            <a:r>
              <a:rPr lang="en-US" sz="1250" dirty="0">
                <a:solidFill>
                  <a:srgbClr val="4A5568"/>
                </a:solidFill>
                <a:latin typeface="IBM Plex Sans" pitchFamily="34" charset="0"/>
                <a:ea typeface="IBM Plex Sans" pitchFamily="34" charset="-122"/>
                <a:cs typeface="IBM Plex Sans" pitchFamily="34" charset="-120"/>
              </a:rPr>
              <a:t>: grill, to-spec, to-tickets, handoff (not tdd, implement, code-review)</a:t>
            </a:r>
            <a:endParaRPr lang="en-US" sz="1250" dirty="0"/>
          </a:p>
          <a:p>
            <a:pPr algn="l" marL="161925" indent="-161925">
              <a:lnSpc>
                <a:spcPts val="1750"/>
              </a:lnSpc>
              <a:buSzPct val="100000"/>
              <a:buChar char="•"/>
            </a:pPr>
            <a:r>
              <a:rPr lang="en-US" sz="1250" dirty="0">
                <a:solidFill>
                  <a:srgbClr val="4A5568"/>
                </a:solidFill>
                <a:latin typeface="IBM Plex Sans" pitchFamily="34" charset="0"/>
                <a:ea typeface="IBM Plex Sans" pitchFamily="34" charset="-122"/>
                <a:cs typeface="IBM Plex Sans" pitchFamily="34" charset="-120"/>
              </a:rPr>
              <a:t>ECC plugin, project scope, version recorded</a:t>
            </a:r>
            <a:endParaRPr lang="en-US" sz="1250" dirty="0"/>
          </a:p>
          <a:p>
            <a:pPr algn="l" marL="161925" indent="-161925">
              <a:lnSpc>
                <a:spcPts val="1750"/>
              </a:lnSpc>
              <a:buSzPct val="100000"/>
              <a:buChar char="•"/>
            </a:pPr>
            <a:r>
              <a:rPr lang="en-US" sz="1250" dirty="0">
                <a:solidFill>
                  <a:srgbClr val="4A5568"/>
                </a:solidFill>
                <a:latin typeface="IBM Plex Sans" pitchFamily="34" charset="0"/>
                <a:ea typeface="IBM Plex Sans" pitchFamily="34" charset="-122"/>
                <a:cs typeface="IBM Plex Sans" pitchFamily="34" charset="-120"/>
              </a:rPr>
              <a:t>ECC rules copied + tailored, committed</a:t>
            </a:r>
            <a:endParaRPr lang="en-US" sz="1250" dirty="0"/>
          </a:p>
        </p:txBody>
      </p:sp>
      <p:sp>
        <p:nvSpPr>
          <p:cNvPr id="7" name="Text 4"/>
          <p:cNvSpPr/>
          <p:nvPr/>
        </p:nvSpPr>
        <p:spPr>
          <a:xfrm>
            <a:off x="6197600" y="3721733"/>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Risks</a:t>
            </a:r>
            <a:endParaRPr lang="en-US" sz="1500" dirty="0"/>
          </a:p>
        </p:txBody>
      </p:sp>
      <p:sp>
        <p:nvSpPr>
          <p:cNvPr id="8" name="Text 5"/>
          <p:cNvSpPr/>
          <p:nvPr/>
        </p:nvSpPr>
        <p:spPr>
          <a:xfrm>
            <a:off x="6289675" y="4013833"/>
            <a:ext cx="5237353" cy="696913"/>
          </a:xfrm>
          <a:prstGeom prst="rect">
            <a:avLst/>
          </a:prstGeom>
          <a:noFill/>
          <a:ln/>
        </p:spPr>
        <p:txBody>
          <a:bodyPr wrap="square" lIns="0" tIns="0" rIns="0" bIns="0" rtlCol="0" anchor="t">
            <a:normAutofit/>
          </a:bodyPr>
          <a:lstStyle/>
          <a:p>
            <a:pPr algn="l" marL="161925" indent="-161925">
              <a:lnSpc>
                <a:spcPts val="1750"/>
              </a:lnSpc>
              <a:buSzPct val="100000"/>
              <a:buChar char="•"/>
            </a:pPr>
            <a:r>
              <a:rPr lang="en-US" sz="1250" b="1" dirty="0">
                <a:solidFill>
                  <a:srgbClr val="16202E"/>
                </a:solidFill>
                <a:latin typeface="IBM Plex Sans" pitchFamily="34" charset="0"/>
                <a:ea typeface="IBM Plex Sans" pitchFamily="34" charset="-122"/>
                <a:cs typeface="IBM Plex Sans" pitchFamily="34" charset="-120"/>
              </a:rPr>
              <a:t>This combination was never run</a:t>
            </a:r>
            <a:r>
              <a:rPr lang="en-US" sz="1250" dirty="0">
                <a:solidFill>
                  <a:srgbClr val="4A5568"/>
                </a:solidFill>
                <a:latin typeface="IBM Plex Sans" pitchFamily="34" charset="0"/>
                <a:ea typeface="IBM Plex Sans" pitchFamily="34" charset="-122"/>
                <a:cs typeface="IBM Plex Sans" pitchFamily="34" charset="-120"/>
              </a:rPr>
              <a:t>, hence a pilot</a:t>
            </a:r>
            <a:endParaRPr lang="en-US" sz="1250" dirty="0"/>
          </a:p>
          <a:p>
            <a:pPr algn="l" marL="161925" indent="-161925">
              <a:lnSpc>
                <a:spcPts val="1750"/>
              </a:lnSpc>
              <a:buSzPct val="100000"/>
              <a:buChar char="•"/>
            </a:pPr>
            <a:r>
              <a:rPr lang="en-US" sz="1250" dirty="0">
                <a:solidFill>
                  <a:srgbClr val="4A5568"/>
                </a:solidFill>
                <a:latin typeface="IBM Plex Sans" pitchFamily="34" charset="0"/>
                <a:ea typeface="IBM Plex Sans" pitchFamily="34" charset="-122"/>
                <a:cs typeface="IBM Plex Sans" pitchFamily="34" charset="-120"/>
              </a:rPr>
              <a:t>ECC's costs: +13.7k context, hooks, churn</a:t>
            </a:r>
            <a:endParaRPr lang="en-US" sz="1250" dirty="0"/>
          </a:p>
          <a:p>
            <a:pPr algn="l" marL="161925" indent="-161925">
              <a:lnSpc>
                <a:spcPts val="1750"/>
              </a:lnSpc>
              <a:buSzPct val="100000"/>
              <a:buChar char="•"/>
            </a:pPr>
            <a:r>
              <a:rPr lang="en-US" sz="1250" dirty="0">
                <a:solidFill>
                  <a:srgbClr val="4A5568"/>
                </a:solidFill>
                <a:latin typeface="IBM Plex Sans" pitchFamily="34" charset="0"/>
                <a:ea typeface="IBM Plex Sans" pitchFamily="34" charset="-122"/>
                <a:cs typeface="IBM Plex Sans" pitchFamily="34" charset="-120"/>
              </a:rPr>
              <a:t>Alternative, lower risk: MP + copied ECC reviewer files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EVALUATION B · GRAPHIFY</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A bigger repo, three questions, three setups</a:t>
            </a:r>
            <a:endParaRPr lang="en-US" sz="3000" dirty="0"/>
          </a:p>
        </p:txBody>
      </p:sp>
      <p:sp>
        <p:nvSpPr>
          <p:cNvPr id="4" name="Text 2"/>
          <p:cNvSpPr/>
          <p:nvPr/>
        </p:nvSpPr>
        <p:spPr>
          <a:xfrm>
            <a:off x="812800" y="1775458"/>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Test bed: memos (open source)</a:t>
            </a:r>
            <a:endParaRPr lang="en-US" sz="1600" dirty="0"/>
          </a:p>
        </p:txBody>
      </p:sp>
      <p:sp>
        <p:nvSpPr>
          <p:cNvPr id="5" name="Text 3"/>
          <p:cNvSpPr/>
          <p:nvPr/>
        </p:nvSpPr>
        <p:spPr>
          <a:xfrm>
            <a:off x="812800" y="2120900"/>
            <a:ext cx="531088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Note-taking app. </a:t>
            </a:r>
            <a:r>
              <a:rPr lang="en-US" sz="1300" b="1" dirty="0">
                <a:solidFill>
                  <a:srgbClr val="16202E"/>
                </a:solidFill>
                <a:latin typeface="IBM Plex Sans" pitchFamily="34" charset="0"/>
                <a:ea typeface="IBM Plex Sans" pitchFamily="34" charset="-122"/>
                <a:cs typeface="IBM Plex Sans" pitchFamily="34" charset="-120"/>
              </a:rPr>
              <a:t>Go backend (~100k lines) + React/TS</a:t>
            </a:r>
            <a:r>
              <a:rPr lang="en-US" sz="1300" dirty="0">
                <a:solidFill>
                  <a:srgbClr val="4A5568"/>
                </a:solidFill>
                <a:latin typeface="IBM Plex Sans" pitchFamily="34" charset="0"/>
                <a:ea typeface="IBM Plex Sans" pitchFamily="34" charset="-122"/>
                <a:cs typeface="IBM Plex Sans" pitchFamily="34" charset="-120"/>
              </a:rPr>
              <a:t>, Postgres/MySQL/SQLite. </a:t>
            </a:r>
            <a:r>
              <a:rPr lang="en-US" sz="1300" b="1" dirty="0">
                <a:solidFill>
                  <a:srgbClr val="16202E"/>
                </a:solidFill>
                <a:latin typeface="IBM Plex Sans" pitchFamily="34" charset="0"/>
                <a:ea typeface="IBM Plex Sans" pitchFamily="34" charset="-122"/>
                <a:cs typeface="IBM Plex Sans" pitchFamily="34" charset="-120"/>
              </a:rPr>
              <a:t>1,258 code files</a:t>
            </a:r>
            <a:r>
              <a:rPr lang="en-US" sz="1300" dirty="0">
                <a:solidFill>
                  <a:srgbClr val="4A5568"/>
                </a:solidFill>
                <a:latin typeface="IBM Plex Sans" pitchFamily="34" charset="0"/>
                <a:ea typeface="IBM Plex Sans" pitchFamily="34" charset="-122"/>
                <a:cs typeface="IBM Plex Sans" pitchFamily="34" charset="-120"/>
              </a:rPr>
              <a:t>, 10–20× mini-kouventa. Pinned to one commit.</a:t>
            </a:r>
            <a:endParaRPr lang="en-US" sz="1300" dirty="0"/>
          </a:p>
        </p:txBody>
      </p:sp>
      <p:sp>
        <p:nvSpPr>
          <p:cNvPr id="6" name="Text 4"/>
          <p:cNvSpPr/>
          <p:nvPr/>
        </p:nvSpPr>
        <p:spPr>
          <a:xfrm>
            <a:off x="812800" y="2915915"/>
            <a:ext cx="531088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02E"/>
                </a:solidFill>
                <a:latin typeface="JetBrains Mono" pitchFamily="49" charset="0"/>
                <a:ea typeface="JetBrains Mono" pitchFamily="49" charset="-122"/>
                <a:cs typeface="JetBrains Mono" pitchFamily="49" charset="-120"/>
              </a:rPr>
              <a:t>React → API (server/api/v1)</a:t>
            </a:r>
            <a:endParaRPr lang="en-US" sz="1200" dirty="0"/>
          </a:p>
          <a:p>
            <a:pPr algn="l" indent="0" marL="0">
              <a:lnSpc>
                <a:spcPts val="1800"/>
              </a:lnSpc>
              <a:buNone/>
            </a:pPr>
            <a:r>
              <a:rPr lang="en-US" sz="1200" dirty="0">
                <a:solidFill>
                  <a:srgbClr val="16202E"/>
                </a:solidFill>
                <a:latin typeface="JetBrains Mono" pitchFamily="49" charset="0"/>
                <a:ea typeface="JetBrains Mono" pitchFamily="49" charset="-122"/>
                <a:cs typeface="JetBrains Mono" pitchFamily="49" charset="-120"/>
              </a:rPr>
              <a:t>→ Store (store/) → DB driver</a:t>
            </a:r>
            <a:endParaRPr lang="en-US" sz="1200" dirty="0"/>
          </a:p>
        </p:txBody>
      </p:sp>
      <p:sp>
        <p:nvSpPr>
          <p:cNvPr id="7" name="Text 5"/>
          <p:cNvSpPr/>
          <p:nvPr/>
        </p:nvSpPr>
        <p:spPr>
          <a:xfrm>
            <a:off x="812800" y="3474715"/>
            <a:ext cx="531088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Questions, not a feature build: Graphify only helps </a:t>
            </a:r>
            <a:r>
              <a:rPr lang="en-US" sz="1300" b="1" dirty="0">
                <a:solidFill>
                  <a:srgbClr val="16202E"/>
                </a:solidFill>
                <a:latin typeface="IBM Plex Sans" pitchFamily="34" charset="0"/>
                <a:ea typeface="IBM Plex Sans" pitchFamily="34" charset="-122"/>
                <a:cs typeface="IBM Plex Sans" pitchFamily="34" charset="-120"/>
              </a:rPr>
              <a:t>finding your way</a:t>
            </a:r>
            <a:r>
              <a:rPr lang="en-US" sz="1300" dirty="0">
                <a:solidFill>
                  <a:srgbClr val="4A5568"/>
                </a:solidFill>
                <a:latin typeface="IBM Plex Sans" pitchFamily="34" charset="0"/>
                <a:ea typeface="IBM Plex Sans" pitchFamily="34" charset="-122"/>
                <a:cs typeface="IBM Plex Sans" pitchFamily="34" charset="-120"/>
              </a:rPr>
              <a:t>, so we tested exactly that.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35700" y="1788158"/>
          <a:ext cx="5143500" cy="1606550"/>
        </p:xfrm>
        <a:graphic>
          <a:graphicData uri="http://schemas.openxmlformats.org/drawingml/2006/table">
            <a:tbl>
              <a:tblPr/>
              <a:tblGrid>
                <a:gridCol w="1543050"/>
                <a:gridCol w="3600450"/>
              </a:tblGrid>
              <a:tr h="346075">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Question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Asked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GQ1 trace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What happens when a user creates a memo?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GQ2 find rule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Where is "who may read a memo" decided?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56832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GQ3 blast radius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What breaks if Store.ApplyMemoMutation changes?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35700" y="3509008"/>
          <a:ext cx="5143500" cy="1384300"/>
        </p:xfrm>
        <a:graphic>
          <a:graphicData uri="http://schemas.openxmlformats.org/drawingml/2006/table">
            <a:tbl>
              <a:tblPr/>
              <a:tblGrid>
                <a:gridCol w="1543050"/>
                <a:gridCol w="3600450"/>
              </a:tblGrid>
              <a:tr h="346075">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Setup</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750"/>
                        </a:lnSpc>
                        <a:buNone/>
                      </a:pPr>
                      <a:r>
                        <a:rPr lang="en-US" sz="1250" b="1" dirty="0">
                          <a:solidFill>
                            <a:srgbClr val="F6F5F1"/>
                          </a:solidFill>
                          <a:latin typeface="IBM Plex Sans" pitchFamily="34" charset="0"/>
                          <a:ea typeface="IBM Plex Sans" pitchFamily="34" charset="-122"/>
                          <a:cs typeface="IBM Plex Sans" pitchFamily="34" charset="-120"/>
                        </a:rPr>
                        <a:t>What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G0</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Plain Claude Code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Graphify installed as its docs say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46075">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16202E"/>
                          </a:solidFill>
                          <a:latin typeface="IBM Plex Sans" pitchFamily="34" charset="0"/>
                          <a:ea typeface="IBM Plex Sans" pitchFamily="34" charset="-122"/>
                          <a:cs typeface="IBM Plex Sans" pitchFamily="34" charset="-120"/>
                        </a:rPr>
                        <a:t>G1 + "use the graph as your main source"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0" name="Text 6"/>
          <p:cNvSpPr/>
          <p:nvPr/>
        </p:nvSpPr>
        <p:spPr>
          <a:xfrm>
            <a:off x="812800" y="6024885"/>
            <a:ext cx="65405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Answer keys checked against the source · fresh session per question · 0 human help in 9 runs</a:t>
            </a:r>
            <a:endParaRPr lang="en-US" sz="1200" dirty="0"/>
          </a:p>
        </p:txBody>
      </p:sp>
      <p:sp>
        <p:nvSpPr>
          <p:cNvPr id="11" name="Text 7"/>
          <p:cNvSpPr/>
          <p:nvPr/>
        </p:nvSpPr>
        <p:spPr>
          <a:xfrm>
            <a:off x="8585200" y="6187442"/>
            <a:ext cx="2794000" cy="314960"/>
          </a:xfrm>
          <a:prstGeom prst="roundRect">
            <a:avLst>
              <a:gd name="adj" fmla="val 50000"/>
            </a:avLst>
          </a:prstGeom>
          <a:solidFill>
            <a:srgbClr val="2B63A6"/>
          </a:solidFill>
          <a:ln/>
        </p:spPr>
        <p:txBody>
          <a:bodyPr wrap="none" lIns="42776" tIns="4676" rIns="42776" bIns="0" rtlCol="0" anchor="t">
            <a:normAutofit/>
          </a:bodyPr>
          <a:lstStyle/>
          <a:p>
            <a:pPr algn="ctr"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 DEMO · memos app</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GRAPHIFY · RESULTS (3 QUESTIONS)</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Perfect everywhere, and no saving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58"/>
          <a:ext cx="10553700" cy="1544320"/>
        </p:xfrm>
        <a:graphic>
          <a:graphicData uri="http://schemas.openxmlformats.org/drawingml/2006/table">
            <a:tbl>
              <a:tblPr/>
              <a:tblGrid>
                <a:gridCol w="2955036"/>
                <a:gridCol w="1688592"/>
                <a:gridCol w="2110740"/>
                <a:gridCol w="1688592"/>
                <a:gridCol w="2110740"/>
              </a:tblGrid>
              <a:tr h="386080">
                <a:tc>
                  <a:txBody>
                    <a:bodyPr/>
                    <a:lstStyle/>
                    <a:p>
                      <a:pP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Setup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algn="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Correct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algn="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Output tokens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algn="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Tool calls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algn="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Working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G0 plain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23/23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16,967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~5.6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G1 Graphify default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23/23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15,589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~4.1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8608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G2 Graphify forced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23/23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17,036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~7.8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Shape 2"/>
          <p:cNvSpPr/>
          <p:nvPr/>
        </p:nvSpPr>
        <p:spPr>
          <a:xfrm>
            <a:off x="815975" y="3589660"/>
            <a:ext cx="3380317" cy="1167130"/>
          </a:xfrm>
          <a:prstGeom prst="roundRect">
            <a:avLst>
              <a:gd name="adj" fmla="val 8433"/>
            </a:avLst>
          </a:prstGeom>
          <a:solidFill>
            <a:srgbClr val="FDFCF9"/>
          </a:solidFill>
          <a:ln w="6350">
            <a:solidFill>
              <a:srgbClr val="E2DFD6"/>
            </a:solidFill>
            <a:prstDash val="solid"/>
          </a:ln>
        </p:spPr>
      </p:sp>
      <p:sp>
        <p:nvSpPr>
          <p:cNvPr id="6" name="Text 3"/>
          <p:cNvSpPr/>
          <p:nvPr/>
        </p:nvSpPr>
        <p:spPr>
          <a:xfrm>
            <a:off x="1022350" y="3796035"/>
            <a:ext cx="30565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No accuracy gain</a:t>
            </a:r>
            <a:endParaRPr lang="en-US" sz="1500" dirty="0"/>
          </a:p>
        </p:txBody>
      </p:sp>
      <p:sp>
        <p:nvSpPr>
          <p:cNvPr id="7" name="Text 4"/>
          <p:cNvSpPr/>
          <p:nvPr/>
        </p:nvSpPr>
        <p:spPr>
          <a:xfrm>
            <a:off x="1022350" y="4088135"/>
            <a:ext cx="30565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Plain Claude was already perfect, in under 4 min per question</a:t>
            </a:r>
            <a:endParaRPr lang="en-US" sz="1300" dirty="0"/>
          </a:p>
        </p:txBody>
      </p:sp>
      <p:sp>
        <p:nvSpPr>
          <p:cNvPr id="8" name="Shape 5"/>
          <p:cNvSpPr/>
          <p:nvPr/>
        </p:nvSpPr>
        <p:spPr>
          <a:xfrm>
            <a:off x="4405842" y="3589660"/>
            <a:ext cx="3380317" cy="1167130"/>
          </a:xfrm>
          <a:prstGeom prst="roundRect">
            <a:avLst>
              <a:gd name="adj" fmla="val 8433"/>
            </a:avLst>
          </a:prstGeom>
          <a:solidFill>
            <a:srgbClr val="FDFCF9"/>
          </a:solidFill>
          <a:ln w="6350">
            <a:solidFill>
              <a:srgbClr val="E2DFD6"/>
            </a:solidFill>
            <a:prstDash val="solid"/>
          </a:ln>
        </p:spPr>
      </p:sp>
      <p:sp>
        <p:nvSpPr>
          <p:cNvPr id="9" name="Text 6"/>
          <p:cNvSpPr/>
          <p:nvPr/>
        </p:nvSpPr>
        <p:spPr>
          <a:xfrm>
            <a:off x="4612217" y="3796035"/>
            <a:ext cx="30565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G1's −8% isn't Graphify</a:t>
            </a:r>
            <a:endParaRPr lang="en-US" sz="1500" dirty="0"/>
          </a:p>
        </p:txBody>
      </p:sp>
      <p:sp>
        <p:nvSpPr>
          <p:cNvPr id="10" name="Text 7"/>
          <p:cNvSpPr/>
          <p:nvPr/>
        </p:nvSpPr>
        <p:spPr>
          <a:xfrm>
            <a:off x="4612217" y="4088135"/>
            <a:ext cx="30565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It came from runs where Claude </a:t>
            </a:r>
            <a:r>
              <a:rPr lang="en-US" sz="1300" b="1" dirty="0">
                <a:solidFill>
                  <a:srgbClr val="16202E"/>
                </a:solidFill>
                <a:latin typeface="IBM Plex Sans" pitchFamily="34" charset="0"/>
                <a:ea typeface="IBM Plex Sans" pitchFamily="34" charset="-122"/>
                <a:cs typeface="IBM Plex Sans" pitchFamily="34" charset="-120"/>
              </a:rPr>
              <a:t>ignored</a:t>
            </a:r>
            <a:r>
              <a:rPr lang="en-US" sz="1300" dirty="0">
                <a:solidFill>
                  <a:srgbClr val="4A5568"/>
                </a:solidFill>
                <a:latin typeface="IBM Plex Sans" pitchFamily="34" charset="0"/>
                <a:ea typeface="IBM Plex Sans" pitchFamily="34" charset="-122"/>
                <a:cs typeface="IBM Plex Sans" pitchFamily="34" charset="-120"/>
              </a:rPr>
              <a:t> the graph</a:t>
            </a:r>
            <a:endParaRPr lang="en-US" sz="1300" dirty="0"/>
          </a:p>
        </p:txBody>
      </p:sp>
      <p:sp>
        <p:nvSpPr>
          <p:cNvPr id="11" name="Shape 8"/>
          <p:cNvSpPr/>
          <p:nvPr/>
        </p:nvSpPr>
        <p:spPr>
          <a:xfrm>
            <a:off x="7995708" y="3589660"/>
            <a:ext cx="3380317" cy="1167130"/>
          </a:xfrm>
          <a:prstGeom prst="roundRect">
            <a:avLst>
              <a:gd name="adj" fmla="val 8433"/>
            </a:avLst>
          </a:prstGeom>
          <a:solidFill>
            <a:srgbClr val="FDFCF9"/>
          </a:solidFill>
          <a:ln w="6350">
            <a:solidFill>
              <a:srgbClr val="E2DFD6"/>
            </a:solidFill>
            <a:prstDash val="solid"/>
          </a:ln>
        </p:spPr>
      </p:sp>
      <p:sp>
        <p:nvSpPr>
          <p:cNvPr id="12" name="Text 9"/>
          <p:cNvSpPr/>
          <p:nvPr/>
        </p:nvSpPr>
        <p:spPr>
          <a:xfrm>
            <a:off x="8202083" y="3796035"/>
            <a:ext cx="30565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Relying on it is slower</a:t>
            </a:r>
            <a:endParaRPr lang="en-US" sz="1500" dirty="0"/>
          </a:p>
        </p:txBody>
      </p:sp>
      <p:sp>
        <p:nvSpPr>
          <p:cNvPr id="13" name="Text 10"/>
          <p:cNvSpPr/>
          <p:nvPr/>
        </p:nvSpPr>
        <p:spPr>
          <a:xfrm>
            <a:off x="8202083" y="4088135"/>
            <a:ext cx="30565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G2: +40% time; GQ3 alone +64% tokens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GRAPHIFY · WHAT ACTUALLY HAPPENED</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Claude tried the map, then searched anyway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58"/>
          <a:ext cx="10553700" cy="2515870"/>
        </p:xfrm>
        <a:graphic>
          <a:graphicData uri="http://schemas.openxmlformats.org/drawingml/2006/table">
            <a:tbl>
              <a:tblPr/>
              <a:tblGrid>
                <a:gridCol w="1477518"/>
                <a:gridCol w="2321814"/>
                <a:gridCol w="6754368"/>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Graph used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What Claude said or found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GQ1-G1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query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"Graph is noisy here; I'll go to source directly." (mostly test files)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GQ2-G1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query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Matched 2,097 functions: "too broad; narrowing with grep"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GQ3-G1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explain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Right command, but the graph showed no callers; Claude grepped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GQ1-G2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explain ×8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"No edge across the interface"; "almost no call edges on the TS side"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GQ2-G2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explain ×7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Best case: "from the helpers onward, the graph matched the 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GQ3-G2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affected ×3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"No affected nodes found". Real answer: 9 functions and endpoints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
        <p:nvSpPr>
          <p:cNvPr id="5" name="Text 2"/>
          <p:cNvSpPr/>
          <p:nvPr/>
        </p:nvSpPr>
        <p:spPr>
          <a:xfrm>
            <a:off x="812800" y="455803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Claude always noticed and double-checked. </a:t>
            </a:r>
            <a:r>
              <a:rPr lang="en-US" sz="1400" b="1" dirty="0">
                <a:solidFill>
                  <a:srgbClr val="16202E"/>
                </a:solidFill>
                <a:latin typeface="IBM Plex Sans" pitchFamily="34" charset="0"/>
                <a:ea typeface="IBM Plex Sans" pitchFamily="34" charset="-122"/>
                <a:cs typeface="IBM Plex Sans" pitchFamily="34" charset="-120"/>
              </a:rPr>
              <a:t>A developer reading "nothing affected" might not.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65A"/>
                </a:solidFill>
                <a:latin typeface="JetBrains Mono" pitchFamily="49" charset="0"/>
                <a:ea typeface="JetBrains Mono" pitchFamily="49" charset="-122"/>
                <a:cs typeface="JetBrains Mono" pitchFamily="49" charset="-120"/>
              </a:rPr>
              <a:t>ROOT CAUSE</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1"/>
                </a:solidFill>
                <a:latin typeface="IBM Plex Sans" pitchFamily="34" charset="0"/>
                <a:ea typeface="IBM Plex Sans" pitchFamily="34" charset="-122"/>
                <a:cs typeface="IBM Plex Sans" pitchFamily="34" charset="-120"/>
              </a:rPr>
              <a:t>The map misses most calls to Go methods</a:t>
            </a:r>
            <a:endParaRPr lang="en-US" sz="3000" dirty="0"/>
          </a:p>
        </p:txBody>
      </p:sp>
      <p:sp>
        <p:nvSpPr>
          <p:cNvPr id="4" name="Text 2"/>
          <p:cNvSpPr/>
          <p:nvPr/>
        </p:nvSpPr>
        <p:spPr>
          <a:xfrm>
            <a:off x="812800" y="1775458"/>
            <a:ext cx="531088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0"/>
                </a:solidFill>
                <a:latin typeface="IBM Plex Sans" pitchFamily="34" charset="0"/>
                <a:ea typeface="IBM Plex Sans" pitchFamily="34" charset="-122"/>
                <a:cs typeface="IBM Plex Sans" pitchFamily="34" charset="-120"/>
              </a:rPr>
              <a:t>server/api/v1/memo_service.go · GetMemo</a:t>
            </a:r>
            <a:endParaRPr lang="en-US" sz="1300" dirty="0"/>
          </a:p>
        </p:txBody>
      </p:sp>
      <p:sp>
        <p:nvSpPr>
          <p:cNvPr id="5" name="Text 3"/>
          <p:cNvSpPr/>
          <p:nvPr/>
        </p:nvSpPr>
        <p:spPr>
          <a:xfrm>
            <a:off x="812800" y="2095500"/>
            <a:ext cx="5156200" cy="1391920"/>
          </a:xfrm>
          <a:prstGeom prst="roundRect">
            <a:avLst>
              <a:gd name="adj" fmla="val 5474"/>
            </a:avLst>
          </a:prstGeom>
          <a:solidFill>
            <a:srgbClr val="0E1621"/>
          </a:solidFill>
          <a:ln/>
        </p:spPr>
        <p:txBody>
          <a:bodyPr wrap="square" lIns="155482" tIns="155482" rIns="11464" bIns="130082" rtlCol="0" anchor="t">
            <a:normAutofit/>
          </a:bodyPr>
          <a:lstStyle/>
          <a:p>
            <a:pPr algn="l" indent="0" marL="0">
              <a:lnSpc>
                <a:spcPts val="2040"/>
              </a:lnSpc>
              <a:buNone/>
            </a:pPr>
            <a:r>
              <a:rPr lang="en-US" sz="1200" dirty="0">
                <a:solidFill>
                  <a:srgbClr val="E6E9EE"/>
                </a:solidFill>
                <a:latin typeface="JetBrains Mono" pitchFamily="49" charset="0"/>
                <a:ea typeface="JetBrains Mono" pitchFamily="49" charset="-122"/>
                <a:cs typeface="JetBrains Mono" pitchFamily="49" charset="-120"/>
              </a:rPr>
              <a:t>236 func (s *APIV1Service) GetMemo(…) {</a:t>
            </a:r>
            <a:endParaRPr lang="en-US" sz="1200" dirty="0"/>
          </a:p>
          <a:p>
            <a:pPr algn="l" indent="0" marL="0">
              <a:lnSpc>
                <a:spcPts val="2040"/>
              </a:lnSpc>
              <a:buNone/>
            </a:pPr>
            <a:r>
              <a:rPr lang="en-US" sz="1200" dirty="0">
                <a:solidFill>
                  <a:srgbClr val="E6E9EE"/>
                </a:solidFill>
                <a:latin typeface="JetBrains Mono" pitchFamily="49" charset="0"/>
                <a:ea typeface="JetBrains Mono" pitchFamily="49" charset="-122"/>
                <a:cs typeface="JetBrains Mono" pitchFamily="49" charset="-120"/>
              </a:rPr>
              <a:t>237  ExtractMemoUIDFromName(…) </a:t>
            </a:r>
            <a:r>
              <a:rPr lang="en-US" sz="1200" dirty="0">
                <a:solidFill>
                  <a:srgbClr val="7FC8A9"/>
                </a:solidFill>
                <a:latin typeface="JetBrains Mono" pitchFamily="49" charset="0"/>
                <a:ea typeface="JetBrains Mono" pitchFamily="49" charset="-122"/>
                <a:cs typeface="JetBrains Mono" pitchFamily="49" charset="-120"/>
              </a:rPr>
              <a:t>in map</a:t>
            </a:r>
            <a:endParaRPr lang="en-US" sz="1200" dirty="0"/>
          </a:p>
          <a:p>
            <a:pPr algn="l" indent="0" marL="0">
              <a:lnSpc>
                <a:spcPts val="2040"/>
              </a:lnSpc>
              <a:buNone/>
            </a:pPr>
            <a:r>
              <a:rPr lang="en-US" sz="1200" dirty="0">
                <a:solidFill>
                  <a:srgbClr val="E6E9EE"/>
                </a:solidFill>
                <a:latin typeface="JetBrains Mono" pitchFamily="49" charset="0"/>
                <a:ea typeface="JetBrains Mono" pitchFamily="49" charset="-122"/>
                <a:cs typeface="JetBrains Mono" pitchFamily="49" charset="-120"/>
              </a:rPr>
              <a:t>241  s.Store.GetMemo(…) </a:t>
            </a:r>
            <a:r>
              <a:rPr lang="en-US" sz="1200" dirty="0">
                <a:solidFill>
                  <a:srgbClr val="F2A65A"/>
                </a:solidFill>
                <a:latin typeface="JetBrains Mono" pitchFamily="49" charset="0"/>
                <a:ea typeface="JetBrains Mono" pitchFamily="49" charset="-122"/>
                <a:cs typeface="JetBrains Mono" pitchFamily="49" charset="-120"/>
              </a:rPr>
              <a:t>MISSING</a:t>
            </a:r>
            <a:endParaRPr lang="en-US" sz="1200" dirty="0"/>
          </a:p>
          <a:p>
            <a:pPr algn="l" indent="0" marL="0">
              <a:lnSpc>
                <a:spcPts val="2040"/>
              </a:lnSpc>
              <a:buNone/>
            </a:pPr>
            <a:r>
              <a:rPr lang="en-US" sz="1200" dirty="0">
                <a:solidFill>
                  <a:srgbClr val="E6E9EE"/>
                </a:solidFill>
                <a:latin typeface="JetBrains Mono" pitchFamily="49" charset="0"/>
                <a:ea typeface="JetBrains Mono" pitchFamily="49" charset="-122"/>
                <a:cs typeface="JetBrains Mono" pitchFamily="49" charset="-120"/>
              </a:rPr>
              <a:t>251  s.checkMemoReadAccess(…) </a:t>
            </a:r>
            <a:r>
              <a:rPr lang="en-US" sz="1200" dirty="0">
                <a:solidFill>
                  <a:srgbClr val="F2A65A"/>
                </a:solidFill>
                <a:latin typeface="JetBrains Mono" pitchFamily="49" charset="0"/>
                <a:ea typeface="JetBrains Mono" pitchFamily="49" charset="-122"/>
                <a:cs typeface="JetBrains Mono" pitchFamily="49" charset="-120"/>
              </a:rPr>
              <a:t>MISSING</a:t>
            </a:r>
            <a:endParaRPr lang="en-US" sz="1200" dirty="0"/>
          </a:p>
        </p:txBody>
      </p:sp>
      <p:sp>
        <p:nvSpPr>
          <p:cNvPr id="6" name="Text 4"/>
          <p:cNvSpPr/>
          <p:nvPr/>
        </p:nvSpPr>
        <p:spPr>
          <a:xfrm>
            <a:off x="812800" y="3576315"/>
            <a:ext cx="531088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0"/>
                </a:solidFill>
                <a:latin typeface="IBM Plex Sans" pitchFamily="34" charset="0"/>
                <a:ea typeface="IBM Plex Sans" pitchFamily="34" charset="-122"/>
                <a:cs typeface="IBM Plex Sans" pitchFamily="34" charset="-120"/>
              </a:rPr>
              <a:t>Plain function: linked. </a:t>
            </a:r>
            <a:r>
              <a:rPr lang="en-US" sz="1300" b="1" dirty="0">
                <a:solidFill>
                  <a:srgbClr val="F6F5F1"/>
                </a:solidFill>
                <a:latin typeface="IBM Plex Sans" pitchFamily="34" charset="0"/>
                <a:ea typeface="IBM Plex Sans" pitchFamily="34" charset="-122"/>
                <a:cs typeface="IBM Plex Sans" pitchFamily="34" charset="-120"/>
              </a:rPr>
              <a:t>Method called through s. or s.Store.: mostly not.</a:t>
            </a:r>
            <a:r>
              <a:rPr lang="en-US" sz="1300" dirty="0">
                <a:solidFill>
                  <a:srgbClr val="B8C2D0"/>
                </a:solidFill>
                <a:latin typeface="IBM Plex Sans" pitchFamily="34" charset="0"/>
                <a:ea typeface="IBM Plex Sans" pitchFamily="34" charset="-122"/>
                <a:cs typeface="IBM Plex Sans" pitchFamily="34" charset="-120"/>
              </a:rPr>
              <a:t> The tool can't tell which method "s." means.</a:t>
            </a:r>
            <a:endParaRPr lang="en-US" sz="1300" dirty="0"/>
          </a:p>
        </p:txBody>
      </p:sp>
      <p:sp>
        <p:nvSpPr>
          <p:cNvPr id="7" name="Shape 5"/>
          <p:cNvSpPr/>
          <p:nvPr/>
        </p:nvSpPr>
        <p:spPr>
          <a:xfrm>
            <a:off x="6223000" y="1775458"/>
            <a:ext cx="2501900" cy="1264920"/>
          </a:xfrm>
          <a:prstGeom prst="roundRect">
            <a:avLst>
              <a:gd name="adj" fmla="val 8032"/>
            </a:avLst>
          </a:prstGeom>
          <a:solidFill>
            <a:srgbClr val="22304A"/>
          </a:solidFill>
          <a:ln/>
        </p:spPr>
      </p:sp>
      <p:sp>
        <p:nvSpPr>
          <p:cNvPr id="8" name="Text 6"/>
          <p:cNvSpPr/>
          <p:nvPr/>
        </p:nvSpPr>
        <p:spPr>
          <a:xfrm>
            <a:off x="6400800" y="1953258"/>
            <a:ext cx="221068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7FC8A9"/>
                </a:solidFill>
                <a:latin typeface="IBM Plex Sans" pitchFamily="34" charset="0"/>
                <a:ea typeface="IBM Plex Sans" pitchFamily="34" charset="-122"/>
                <a:cs typeface="IBM Plex Sans" pitchFamily="34" charset="-120"/>
              </a:rPr>
              <a:t>1.83</a:t>
            </a:r>
            <a:endParaRPr lang="en-US" sz="3600" dirty="0"/>
          </a:p>
        </p:txBody>
      </p:sp>
      <p:sp>
        <p:nvSpPr>
          <p:cNvPr id="9" name="Text 7"/>
          <p:cNvSpPr/>
          <p:nvPr/>
        </p:nvSpPr>
        <p:spPr>
          <a:xfrm>
            <a:off x="6400800" y="2435858"/>
            <a:ext cx="22106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0"/>
                </a:solidFill>
                <a:latin typeface="IBM Plex Sans" pitchFamily="34" charset="0"/>
                <a:ea typeface="IBM Plex Sans" pitchFamily="34" charset="-122"/>
                <a:cs typeface="IBM Plex Sans" pitchFamily="34" charset="-120"/>
              </a:rPr>
              <a:t>avg callers recorded per plain function</a:t>
            </a:r>
            <a:endParaRPr lang="en-US" sz="1200" dirty="0"/>
          </a:p>
        </p:txBody>
      </p:sp>
      <p:sp>
        <p:nvSpPr>
          <p:cNvPr id="10" name="Shape 8"/>
          <p:cNvSpPr/>
          <p:nvPr/>
        </p:nvSpPr>
        <p:spPr>
          <a:xfrm>
            <a:off x="8877300" y="1775458"/>
            <a:ext cx="2501900" cy="1264920"/>
          </a:xfrm>
          <a:prstGeom prst="roundRect">
            <a:avLst>
              <a:gd name="adj" fmla="val 8032"/>
            </a:avLst>
          </a:prstGeom>
          <a:solidFill>
            <a:srgbClr val="22304A"/>
          </a:solidFill>
          <a:ln/>
        </p:spPr>
      </p:sp>
      <p:sp>
        <p:nvSpPr>
          <p:cNvPr id="11" name="Text 9"/>
          <p:cNvSpPr/>
          <p:nvPr/>
        </p:nvSpPr>
        <p:spPr>
          <a:xfrm>
            <a:off x="9055100" y="1953258"/>
            <a:ext cx="221068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A65A"/>
                </a:solidFill>
                <a:latin typeface="IBM Plex Sans" pitchFamily="34" charset="0"/>
                <a:ea typeface="IBM Plex Sans" pitchFamily="34" charset="-122"/>
                <a:cs typeface="IBM Plex Sans" pitchFamily="34" charset="-120"/>
              </a:rPr>
              <a:t>0.21</a:t>
            </a:r>
            <a:endParaRPr lang="en-US" sz="3600" dirty="0"/>
          </a:p>
        </p:txBody>
      </p:sp>
      <p:sp>
        <p:nvSpPr>
          <p:cNvPr id="12" name="Text 10"/>
          <p:cNvSpPr/>
          <p:nvPr/>
        </p:nvSpPr>
        <p:spPr>
          <a:xfrm>
            <a:off x="9055100" y="2435858"/>
            <a:ext cx="22106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0"/>
                </a:solidFill>
                <a:latin typeface="IBM Plex Sans" pitchFamily="34" charset="0"/>
                <a:ea typeface="IBM Plex Sans" pitchFamily="34" charset="-122"/>
                <a:cs typeface="IBM Plex Sans" pitchFamily="34" charset="-120"/>
              </a:rPr>
              <a:t>avg callers recorded per method</a:t>
            </a:r>
            <a:endParaRPr lang="en-US" sz="1200" dirty="0"/>
          </a:p>
        </p:txBody>
      </p:sp>
      <p:sp>
        <p:nvSpPr>
          <p:cNvPr id="13" name="Text 11"/>
          <p:cNvSpPr/>
          <p:nvPr/>
        </p:nvSpPr>
        <p:spPr>
          <a:xfrm>
            <a:off x="6308344" y="3167385"/>
            <a:ext cx="5217922" cy="987743"/>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B8C2D0"/>
                </a:solidFill>
                <a:latin typeface="IBM Plex Sans" pitchFamily="34" charset="0"/>
                <a:ea typeface="IBM Plex Sans" pitchFamily="34" charset="-122"/>
                <a:cs typeface="IBM Plex Sans" pitchFamily="34" charset="-120"/>
              </a:rPr>
              <a:t>checkMemoReadAccess: </a:t>
            </a:r>
            <a:r>
              <a:rPr lang="en-US" sz="1300" b="1" dirty="0">
                <a:solidFill>
                  <a:srgbClr val="F6F5F1"/>
                </a:solidFill>
                <a:latin typeface="IBM Plex Sans" pitchFamily="34" charset="0"/>
                <a:ea typeface="IBM Plex Sans" pitchFamily="34" charset="-122"/>
                <a:cs typeface="IBM Plex Sans" pitchFamily="34" charset="-120"/>
              </a:rPr>
              <a:t>10 real callers → 0</a:t>
            </a:r>
            <a:r>
              <a:rPr lang="en-US" sz="1300" dirty="0">
                <a:solidFill>
                  <a:srgbClr val="B8C2D0"/>
                </a:solidFill>
                <a:latin typeface="IBM Plex Sans" pitchFamily="34" charset="0"/>
                <a:ea typeface="IBM Plex Sans" pitchFamily="34" charset="-122"/>
                <a:cs typeface="IBM Plex Sans" pitchFamily="34" charset="-120"/>
              </a:rPr>
              <a:t> in the map</a:t>
            </a:r>
            <a:endParaRPr lang="en-US" sz="1300" dirty="0"/>
          </a:p>
          <a:p>
            <a:pPr algn="l" marL="168656" indent="-168656">
              <a:lnSpc>
                <a:spcPts val="1885"/>
              </a:lnSpc>
              <a:buSzPct val="100000"/>
              <a:buChar char="•"/>
            </a:pPr>
            <a:r>
              <a:rPr lang="en-US" sz="1300" dirty="0">
                <a:solidFill>
                  <a:srgbClr val="B8C2D0"/>
                </a:solidFill>
                <a:latin typeface="IBM Plex Sans" pitchFamily="34" charset="0"/>
                <a:ea typeface="IBM Plex Sans" pitchFamily="34" charset="-122"/>
                <a:cs typeface="IBM Plex Sans" pitchFamily="34" charset="-120"/>
              </a:rPr>
              <a:t>ApplyMemoMutation: </a:t>
            </a:r>
            <a:r>
              <a:rPr lang="en-US" sz="1300" b="1" dirty="0">
                <a:solidFill>
                  <a:srgbClr val="F6F5F1"/>
                </a:solidFill>
                <a:latin typeface="IBM Plex Sans" pitchFamily="34" charset="0"/>
                <a:ea typeface="IBM Plex Sans" pitchFamily="34" charset="-122"/>
                <a:cs typeface="IBM Plex Sans" pitchFamily="34" charset="-120"/>
              </a:rPr>
              <a:t>3 real callers → 0</a:t>
            </a:r>
            <a:r>
              <a:rPr lang="en-US" sz="1300" dirty="0">
                <a:solidFill>
                  <a:srgbClr val="B8C2D0"/>
                </a:solidFill>
                <a:latin typeface="IBM Plex Sans" pitchFamily="34" charset="0"/>
                <a:ea typeface="IBM Plex Sans" pitchFamily="34" charset="-122"/>
                <a:cs typeface="IBM Plex Sans" pitchFamily="34" charset="-120"/>
              </a:rPr>
              <a:t> in the map</a:t>
            </a:r>
            <a:endParaRPr lang="en-US" sz="1300" dirty="0"/>
          </a:p>
          <a:p>
            <a:pPr algn="l" marL="168656" indent="-168656">
              <a:lnSpc>
                <a:spcPts val="1885"/>
              </a:lnSpc>
              <a:buSzPct val="100000"/>
              <a:buChar char="•"/>
            </a:pPr>
            <a:r>
              <a:rPr lang="en-US" sz="1300" dirty="0">
                <a:solidFill>
                  <a:srgbClr val="B8C2D0"/>
                </a:solidFill>
                <a:latin typeface="IBM Plex Sans" pitchFamily="34" charset="0"/>
                <a:ea typeface="IBM Plex Sans" pitchFamily="34" charset="-122"/>
                <a:cs typeface="IBM Plex Sans" pitchFamily="34" charset="-120"/>
              </a:rPr>
              <a:t>memos has </a:t>
            </a:r>
            <a:r>
              <a:rPr lang="en-US" sz="1300" b="1" dirty="0">
                <a:solidFill>
                  <a:srgbClr val="F6F5F1"/>
                </a:solidFill>
                <a:latin typeface="IBM Plex Sans" pitchFamily="34" charset="0"/>
                <a:ea typeface="IBM Plex Sans" pitchFamily="34" charset="-122"/>
                <a:cs typeface="IBM Plex Sans" pitchFamily="34" charset="-120"/>
              </a:rPr>
              <a:t>3,924 methods vs 2,468 functions</a:t>
            </a:r>
            <a:r>
              <a:rPr lang="en-US" sz="1300" dirty="0">
                <a:solidFill>
                  <a:srgbClr val="B8C2D0"/>
                </a:solidFill>
                <a:latin typeface="IBM Plex Sans" pitchFamily="34" charset="0"/>
                <a:ea typeface="IBM Plex Sans" pitchFamily="34" charset="-122"/>
                <a:cs typeface="IBM Plex Sans" pitchFamily="34" charset="-120"/>
              </a:rPr>
              <a:t>; Go backends like ours keep logic in methods</a:t>
            </a:r>
            <a:endParaRPr lang="en-US" sz="1300" dirty="0"/>
          </a:p>
        </p:txBody>
      </p:sp>
      <p:sp>
        <p:nvSpPr>
          <p:cNvPr id="14" name="Text 12"/>
          <p:cNvSpPr/>
          <p:nvPr/>
        </p:nvSpPr>
        <p:spPr>
          <a:xfrm>
            <a:off x="7315200" y="6187442"/>
            <a:ext cx="4064000" cy="314960"/>
          </a:xfrm>
          <a:prstGeom prst="roundRect">
            <a:avLst>
              <a:gd name="adj" fmla="val 50000"/>
            </a:avLst>
          </a:prstGeom>
          <a:solidFill>
            <a:srgbClr val="F2A65A"/>
          </a:solidFill>
          <a:ln/>
        </p:spPr>
        <p:txBody>
          <a:bodyPr wrap="none" lIns="23726" tIns="4676" rIns="23726"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 DEMO · graphify explain GetMemo</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GRAPHIFY · UPKEEP AND CLAIMS</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The map needs constant care</a:t>
            </a:r>
            <a:endParaRPr lang="en-US" sz="3000" dirty="0"/>
          </a:p>
        </p:txBody>
      </p:sp>
      <p:sp>
        <p:nvSpPr>
          <p:cNvPr id="4" name="Shape 2"/>
          <p:cNvSpPr/>
          <p:nvPr/>
        </p:nvSpPr>
        <p:spPr>
          <a:xfrm>
            <a:off x="815975" y="1829433"/>
            <a:ext cx="3380317" cy="1404620"/>
          </a:xfrm>
          <a:prstGeom prst="roundRect">
            <a:avLst>
              <a:gd name="adj" fmla="val 7007"/>
            </a:avLst>
          </a:prstGeom>
          <a:solidFill>
            <a:srgbClr val="FDFCF9"/>
          </a:solidFill>
          <a:ln w="6350">
            <a:solidFill>
              <a:srgbClr val="E2DFD6"/>
            </a:solidFill>
            <a:prstDash val="solid"/>
          </a:ln>
        </p:spPr>
      </p:sp>
      <p:sp>
        <p:nvSpPr>
          <p:cNvPr id="5" name="Text 3"/>
          <p:cNvSpPr/>
          <p:nvPr/>
        </p:nvSpPr>
        <p:spPr>
          <a:xfrm>
            <a:off x="1022350" y="2035808"/>
            <a:ext cx="3056594"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B4531A"/>
                </a:solidFill>
                <a:latin typeface="IBM Plex Sans" pitchFamily="34" charset="0"/>
                <a:ea typeface="IBM Plex Sans" pitchFamily="34" charset="-122"/>
                <a:cs typeface="IBM Plex Sans" pitchFamily="34" charset="-120"/>
              </a:rPr>
              <a:t>98 s</a:t>
            </a:r>
            <a:endParaRPr lang="en-US" sz="4000" dirty="0"/>
          </a:p>
        </p:txBody>
      </p:sp>
      <p:sp>
        <p:nvSpPr>
          <p:cNvPr id="6" name="Text 4"/>
          <p:cNvSpPr/>
          <p:nvPr/>
        </p:nvSpPr>
        <p:spPr>
          <a:xfrm>
            <a:off x="1022350" y="2581908"/>
            <a:ext cx="3056594"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first build (free, no AI)</a:t>
            </a:r>
            <a:endParaRPr lang="en-US" sz="1300" dirty="0"/>
          </a:p>
        </p:txBody>
      </p:sp>
      <p:sp>
        <p:nvSpPr>
          <p:cNvPr id="7" name="Shape 5"/>
          <p:cNvSpPr/>
          <p:nvPr/>
        </p:nvSpPr>
        <p:spPr>
          <a:xfrm>
            <a:off x="4405842" y="1829433"/>
            <a:ext cx="3380317" cy="1404620"/>
          </a:xfrm>
          <a:prstGeom prst="roundRect">
            <a:avLst>
              <a:gd name="adj" fmla="val 7007"/>
            </a:avLst>
          </a:prstGeom>
          <a:solidFill>
            <a:srgbClr val="FDFCF9"/>
          </a:solidFill>
          <a:ln w="6350">
            <a:solidFill>
              <a:srgbClr val="E2DFD6"/>
            </a:solidFill>
            <a:prstDash val="solid"/>
          </a:ln>
        </p:spPr>
      </p:sp>
      <p:sp>
        <p:nvSpPr>
          <p:cNvPr id="8" name="Text 6"/>
          <p:cNvSpPr/>
          <p:nvPr/>
        </p:nvSpPr>
        <p:spPr>
          <a:xfrm>
            <a:off x="4612217" y="2035808"/>
            <a:ext cx="3056594"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B4531A"/>
                </a:solidFill>
                <a:latin typeface="IBM Plex Sans" pitchFamily="34" charset="0"/>
                <a:ea typeface="IBM Plex Sans" pitchFamily="34" charset="-122"/>
                <a:cs typeface="IBM Plex Sans" pitchFamily="34" charset="-120"/>
              </a:rPr>
              <a:t>47 MB</a:t>
            </a:r>
            <a:endParaRPr lang="en-US" sz="4000" dirty="0"/>
          </a:p>
        </p:txBody>
      </p:sp>
      <p:sp>
        <p:nvSpPr>
          <p:cNvPr id="9" name="Text 7"/>
          <p:cNvSpPr/>
          <p:nvPr/>
        </p:nvSpPr>
        <p:spPr>
          <a:xfrm>
            <a:off x="4612217" y="2581908"/>
            <a:ext cx="3056594"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generated files per repo</a:t>
            </a:r>
            <a:endParaRPr lang="en-US" sz="1300" dirty="0"/>
          </a:p>
        </p:txBody>
      </p:sp>
      <p:sp>
        <p:nvSpPr>
          <p:cNvPr id="10" name="Shape 8"/>
          <p:cNvSpPr/>
          <p:nvPr/>
        </p:nvSpPr>
        <p:spPr>
          <a:xfrm>
            <a:off x="7995708" y="1829433"/>
            <a:ext cx="3380317" cy="1404620"/>
          </a:xfrm>
          <a:prstGeom prst="roundRect">
            <a:avLst>
              <a:gd name="adj" fmla="val 7007"/>
            </a:avLst>
          </a:prstGeom>
          <a:solidFill>
            <a:srgbClr val="FDFCF9"/>
          </a:solidFill>
          <a:ln w="6350">
            <a:solidFill>
              <a:srgbClr val="E2DFD6"/>
            </a:solidFill>
            <a:prstDash val="solid"/>
          </a:ln>
        </p:spPr>
      </p:sp>
      <p:sp>
        <p:nvSpPr>
          <p:cNvPr id="11" name="Text 9"/>
          <p:cNvSpPr/>
          <p:nvPr/>
        </p:nvSpPr>
        <p:spPr>
          <a:xfrm>
            <a:off x="8202083" y="2035808"/>
            <a:ext cx="3056594"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B4531A"/>
                </a:solidFill>
                <a:latin typeface="IBM Plex Sans" pitchFamily="34" charset="0"/>
                <a:ea typeface="IBM Plex Sans" pitchFamily="34" charset="-122"/>
                <a:cs typeface="IBM Plex Sans" pitchFamily="34" charset="-120"/>
              </a:rPr>
              <a:t>75 s</a:t>
            </a:r>
            <a:endParaRPr lang="en-US" sz="4000" dirty="0"/>
          </a:p>
        </p:txBody>
      </p:sp>
      <p:sp>
        <p:nvSpPr>
          <p:cNvPr id="12" name="Text 10"/>
          <p:cNvSpPr/>
          <p:nvPr/>
        </p:nvSpPr>
        <p:spPr>
          <a:xfrm>
            <a:off x="8202083" y="2581908"/>
            <a:ext cx="305659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to update after a </a:t>
            </a:r>
            <a:r>
              <a:rPr lang="en-US" sz="1300" b="1" dirty="0">
                <a:solidFill>
                  <a:srgbClr val="16202E"/>
                </a:solidFill>
                <a:latin typeface="IBM Plex Sans" pitchFamily="34" charset="0"/>
                <a:ea typeface="IBM Plex Sans" pitchFamily="34" charset="-122"/>
                <a:cs typeface="IBM Plex Sans" pitchFamily="34" charset="-120"/>
              </a:rPr>
              <a:t>1-line</a:t>
            </a:r>
            <a:r>
              <a:rPr lang="en-US" sz="1300" dirty="0">
                <a:solidFill>
                  <a:srgbClr val="4A5568"/>
                </a:solidFill>
                <a:latin typeface="IBM Plex Sans" pitchFamily="34" charset="0"/>
                <a:ea typeface="IBM Plex Sans" pitchFamily="34" charset="-122"/>
                <a:cs typeface="IBM Plex Sans" pitchFamily="34" charset="-120"/>
              </a:rPr>
              <a:t> change (716 of 1,258 files re-read)</a:t>
            </a:r>
            <a:endParaRPr lang="en-US" sz="1300" dirty="0"/>
          </a:p>
        </p:txBody>
      </p:sp>
      <p:sp>
        <p:nvSpPr>
          <p:cNvPr id="13" name="Text 11"/>
          <p:cNvSpPr/>
          <p:nvPr/>
        </p:nvSpPr>
        <p:spPr>
          <a:xfrm>
            <a:off x="812800" y="3542035"/>
            <a:ext cx="52847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Stale after every change</a:t>
            </a:r>
            <a:endParaRPr lang="en-US" sz="1600" dirty="0"/>
          </a:p>
        </p:txBody>
      </p:sp>
      <p:sp>
        <p:nvSpPr>
          <p:cNvPr id="14" name="Text 12"/>
          <p:cNvSpPr/>
          <p:nvPr/>
        </p:nvSpPr>
        <p:spPr>
          <a:xfrm>
            <a:off x="812800" y="3862065"/>
            <a:ext cx="528472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Rebuild after each edit, commit 47 MB, or add git hooks. Group names shift on each rebuild (158 renamed).</a:t>
            </a:r>
            <a:endParaRPr lang="en-US" sz="1300" dirty="0"/>
          </a:p>
        </p:txBody>
      </p:sp>
      <p:sp>
        <p:nvSpPr>
          <p:cNvPr id="15" name="Text 13"/>
          <p:cNvSpPr/>
          <p:nvPr/>
        </p:nvSpPr>
        <p:spPr>
          <a:xfrm>
            <a:off x="6248400" y="3542035"/>
            <a:ext cx="52847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Vendor numbers don't apply</a:t>
            </a:r>
            <a:endParaRPr lang="en-US" sz="1600" dirty="0"/>
          </a:p>
        </p:txBody>
      </p:sp>
      <p:sp>
        <p:nvSpPr>
          <p:cNvPr id="16" name="Text 14"/>
          <p:cNvSpPr/>
          <p:nvPr/>
        </p:nvSpPr>
        <p:spPr>
          <a:xfrm>
            <a:off x="6248400" y="3862065"/>
            <a:ext cx="528472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README benchmarks are about chat memory. Its "token saving" compares to reading the </a:t>
            </a:r>
            <a:r>
              <a:rPr lang="en-US" sz="1300" b="1" dirty="0">
                <a:solidFill>
                  <a:srgbClr val="16202E"/>
                </a:solidFill>
                <a:latin typeface="IBM Plex Sans" pitchFamily="34" charset="0"/>
                <a:ea typeface="IBM Plex Sans" pitchFamily="34" charset="-122"/>
                <a:cs typeface="IBM Plex Sans" pitchFamily="34" charset="-120"/>
              </a:rPr>
              <a:t>whole repo</a:t>
            </a:r>
            <a:r>
              <a:rPr lang="en-US" sz="1300" dirty="0">
                <a:solidFill>
                  <a:srgbClr val="4A5568"/>
                </a:solidFill>
                <a:latin typeface="IBM Plex Sans" pitchFamily="34" charset="0"/>
                <a:ea typeface="IBM Plex Sans" pitchFamily="34" charset="-122"/>
                <a:cs typeface="IBM Plex Sans" pitchFamily="34" charset="-120"/>
              </a:rPr>
              <a:t>, which Claude never does.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Q3 ANSWER</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Don't adopt Graphify now</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58"/>
          <a:ext cx="10553700" cy="1490980"/>
        </p:xfrm>
        <a:graphic>
          <a:graphicData uri="http://schemas.openxmlformats.org/drawingml/2006/table">
            <a:tbl>
              <a:tblPr/>
              <a:tblGrid>
                <a:gridCol w="3588258"/>
                <a:gridCol w="1899666"/>
                <a:gridCol w="5065776"/>
              </a:tblGrid>
              <a:tr h="372745">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Repo size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Pays off?</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Evidence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Small (mini-kouventa)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B4531A"/>
                          </a:solidFill>
                          <a:latin typeface="IBM Plex Sans" pitchFamily="34" charset="0"/>
                          <a:ea typeface="IBM Plex Sans" pitchFamily="34" charset="-122"/>
                          <a:cs typeface="IBM Plex Sans" pitchFamily="34" charset="-120"/>
                        </a:rPr>
                        <a:t>No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Claude finds anything in a few searches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~1,300 files, 100k Go lines (memos)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B4531A"/>
                          </a:solidFill>
                          <a:latin typeface="IBM Plex Sans" pitchFamily="34" charset="0"/>
                          <a:ea typeface="IBM Plex Sans" pitchFamily="34" charset="-122"/>
                          <a:cs typeface="IBM Plex Sans" pitchFamily="34" charset="-120"/>
                        </a:rPr>
                        <a:t>No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Tested: same accuracy, no saving, Go gaps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Much larger, many services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Unknown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Not tested; could help if Go calls get fixed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Shape 2"/>
          <p:cNvSpPr/>
          <p:nvPr/>
        </p:nvSpPr>
        <p:spPr>
          <a:xfrm>
            <a:off x="815975" y="3536317"/>
            <a:ext cx="5175250" cy="1412875"/>
          </a:xfrm>
          <a:prstGeom prst="roundRect">
            <a:avLst>
              <a:gd name="adj" fmla="val 6966"/>
            </a:avLst>
          </a:prstGeom>
          <a:solidFill>
            <a:srgbClr val="FDFCF9"/>
          </a:solidFill>
          <a:ln w="6350">
            <a:solidFill>
              <a:srgbClr val="E2DFD6"/>
            </a:solidFill>
            <a:prstDash val="solid"/>
          </a:ln>
        </p:spPr>
      </p:sp>
      <p:sp>
        <p:nvSpPr>
          <p:cNvPr id="6" name="Text 3"/>
          <p:cNvSpPr/>
          <p:nvPr/>
        </p:nvSpPr>
        <p:spPr>
          <a:xfrm>
            <a:off x="1022350" y="3742692"/>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Re-test when any of these happens</a:t>
            </a:r>
            <a:endParaRPr lang="en-US" sz="1500" dirty="0"/>
          </a:p>
        </p:txBody>
      </p:sp>
      <p:sp>
        <p:nvSpPr>
          <p:cNvPr id="7" name="Text 4"/>
          <p:cNvSpPr/>
          <p:nvPr/>
        </p:nvSpPr>
        <p:spPr>
          <a:xfrm>
            <a:off x="1114425" y="4047492"/>
            <a:ext cx="4805680" cy="720725"/>
          </a:xfrm>
          <a:prstGeom prst="rect">
            <a:avLst/>
          </a:prstGeom>
          <a:noFill/>
          <a:ln/>
        </p:spPr>
        <p:txBody>
          <a:bodyPr wrap="square" lIns="0" tIns="0" rIns="0" bIns="0" rtlCol="0" anchor="t">
            <a:normAutofit/>
          </a:bodyPr>
          <a:lstStyle/>
          <a:p>
            <a:pPr algn="l" marL="161925" indent="-161925">
              <a:lnSpc>
                <a:spcPts val="1813"/>
              </a:lnSpc>
              <a:buSzPct val="100000"/>
              <a:buChar char="•"/>
            </a:pPr>
            <a:r>
              <a:rPr lang="en-US" sz="1250" dirty="0">
                <a:solidFill>
                  <a:srgbClr val="4A5568"/>
                </a:solidFill>
                <a:latin typeface="IBM Plex Sans" pitchFamily="34" charset="0"/>
                <a:ea typeface="IBM Plex Sans" pitchFamily="34" charset="-122"/>
                <a:cs typeface="IBM Plex Sans" pitchFamily="34" charset="-120"/>
              </a:rPr>
              <a:t>Release notes say Go method calls are resolved</a:t>
            </a:r>
            <a:endParaRPr lang="en-US" sz="1250" dirty="0"/>
          </a:p>
          <a:p>
            <a:pPr algn="l" marL="161925" indent="-161925">
              <a:lnSpc>
                <a:spcPts val="1813"/>
              </a:lnSpc>
              <a:buSzPct val="100000"/>
              <a:buChar char="•"/>
            </a:pPr>
            <a:r>
              <a:rPr lang="en-US" sz="1250" dirty="0">
                <a:solidFill>
                  <a:srgbClr val="4A5568"/>
                </a:solidFill>
                <a:latin typeface="IBM Plex Sans" pitchFamily="34" charset="0"/>
                <a:ea typeface="IBM Plex Sans" pitchFamily="34" charset="-122"/>
                <a:cs typeface="IBM Plex Sans" pitchFamily="34" charset="-120"/>
              </a:rPr>
              <a:t>Helios grows to many services and search gets slow</a:t>
            </a:r>
            <a:endParaRPr lang="en-US" sz="1250" dirty="0"/>
          </a:p>
          <a:p>
            <a:pPr algn="l" marL="161925" indent="-161925">
              <a:lnSpc>
                <a:spcPts val="1813"/>
              </a:lnSpc>
              <a:buSzPct val="100000"/>
              <a:buChar char="•"/>
            </a:pPr>
            <a:r>
              <a:rPr lang="en-US" sz="1250" dirty="0">
                <a:solidFill>
                  <a:srgbClr val="4A5568"/>
                </a:solidFill>
                <a:latin typeface="IBM Plex Sans" pitchFamily="34" charset="0"/>
                <a:ea typeface="IBM Plex Sans" pitchFamily="34" charset="-122"/>
                <a:cs typeface="IBM Plex Sans" pitchFamily="34" charset="-120"/>
              </a:rPr>
              <a:t>The team wants a codebase picture for onboarding</a:t>
            </a:r>
            <a:endParaRPr lang="en-US" sz="1250" dirty="0"/>
          </a:p>
        </p:txBody>
      </p:sp>
      <p:sp>
        <p:nvSpPr>
          <p:cNvPr id="8" name="Shape 5"/>
          <p:cNvSpPr/>
          <p:nvPr/>
        </p:nvSpPr>
        <p:spPr>
          <a:xfrm>
            <a:off x="6200775" y="3536317"/>
            <a:ext cx="5175250" cy="1412875"/>
          </a:xfrm>
          <a:prstGeom prst="roundRect">
            <a:avLst>
              <a:gd name="adj" fmla="val 6966"/>
            </a:avLst>
          </a:prstGeom>
          <a:solidFill>
            <a:srgbClr val="FDFCF9"/>
          </a:solidFill>
          <a:ln w="6350">
            <a:solidFill>
              <a:srgbClr val="E2DFD6"/>
            </a:solidFill>
            <a:prstDash val="solid"/>
          </a:ln>
        </p:spPr>
      </p:sp>
      <p:sp>
        <p:nvSpPr>
          <p:cNvPr id="9" name="Text 6"/>
          <p:cNvSpPr/>
          <p:nvPr/>
        </p:nvSpPr>
        <p:spPr>
          <a:xfrm>
            <a:off x="6407150" y="3742692"/>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Fine for personal use</a:t>
            </a:r>
            <a:endParaRPr lang="en-US" sz="1500" dirty="0"/>
          </a:p>
        </p:txBody>
      </p:sp>
      <p:sp>
        <p:nvSpPr>
          <p:cNvPr id="10" name="Text 7"/>
          <p:cNvSpPr/>
          <p:nvPr/>
        </p:nvSpPr>
        <p:spPr>
          <a:xfrm>
            <a:off x="6407150" y="4047492"/>
            <a:ext cx="4905375"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IBM Plex Sans" pitchFamily="34" charset="0"/>
                <a:ea typeface="IBM Plex Sans" pitchFamily="34" charset="-122"/>
                <a:cs typeface="IBM Plex Sans" pitchFamily="34" charset="-120"/>
              </a:rPr>
              <a:t>graphify explain on a plain function is a good quick lookup, and graph.html is a nice overview. </a:t>
            </a:r>
            <a:r>
              <a:rPr lang="en-US" sz="1250" b="1" dirty="0">
                <a:solidFill>
                  <a:srgbClr val="16202E"/>
                </a:solidFill>
                <a:latin typeface="IBM Plex Sans" pitchFamily="34" charset="0"/>
                <a:ea typeface="IBM Plex Sans" pitchFamily="34" charset="-122"/>
                <a:cs typeface="IBM Plex Sans" pitchFamily="34" charset="-120"/>
              </a:rPr>
              <a:t>Always verify with search.</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65A"/>
                </a:solidFill>
                <a:latin typeface="JetBrains Mono" pitchFamily="49" charset="0"/>
                <a:ea typeface="JetBrains Mono" pitchFamily="49" charset="-122"/>
                <a:cs typeface="JetBrains Mono" pitchFamily="49" charset="-120"/>
              </a:rPr>
              <a:t>FINAL RECOMMENDATION</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1"/>
                </a:solidFill>
                <a:latin typeface="IBM Plex Sans" pitchFamily="34" charset="0"/>
                <a:ea typeface="IBM Plex Sans" pitchFamily="34" charset="-122"/>
                <a:cs typeface="IBM Plex Sans" pitchFamily="34" charset="-120"/>
              </a:rPr>
              <a:t>Match the workflow to the ticket</a:t>
            </a:r>
            <a:endParaRPr lang="en-US" sz="3000" dirty="0"/>
          </a:p>
        </p:txBody>
      </p:sp>
      <p:sp>
        <p:nvSpPr>
          <p:cNvPr id="4" name="Shape 2"/>
          <p:cNvSpPr/>
          <p:nvPr/>
        </p:nvSpPr>
        <p:spPr>
          <a:xfrm>
            <a:off x="812800" y="1826258"/>
            <a:ext cx="10566400" cy="581660"/>
          </a:xfrm>
          <a:prstGeom prst="roundRect">
            <a:avLst>
              <a:gd name="adj" fmla="val 17467"/>
            </a:avLst>
          </a:prstGeom>
          <a:solidFill>
            <a:srgbClr val="22304A"/>
          </a:solidFill>
          <a:ln/>
        </p:spPr>
      </p:sp>
      <p:sp>
        <p:nvSpPr>
          <p:cNvPr id="5" name="Text 3"/>
          <p:cNvSpPr/>
          <p:nvPr/>
        </p:nvSpPr>
        <p:spPr>
          <a:xfrm>
            <a:off x="1016000" y="1965958"/>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A65A"/>
                </a:solidFill>
                <a:latin typeface="IBM Plex Sans" pitchFamily="34" charset="0"/>
                <a:ea typeface="IBM Plex Sans" pitchFamily="34" charset="-122"/>
                <a:cs typeface="IBM Plex Sans" pitchFamily="34" charset="-120"/>
              </a:rPr>
              <a:t>Start plain</a:t>
            </a:r>
            <a:endParaRPr lang="en-US" sz="1700" dirty="0"/>
          </a:p>
        </p:txBody>
      </p:sp>
      <p:sp>
        <p:nvSpPr>
          <p:cNvPr id="6" name="Text 4"/>
          <p:cNvSpPr/>
          <p:nvPr/>
        </p:nvSpPr>
        <p:spPr>
          <a:xfrm>
            <a:off x="3632200" y="1997075"/>
            <a:ext cx="777011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6E9EE"/>
                </a:solidFill>
                <a:latin typeface="IBM Plex Sans" pitchFamily="34" charset="0"/>
                <a:ea typeface="IBM Plex Sans" pitchFamily="34" charset="-122"/>
                <a:cs typeface="IBM Plex Sans" pitchFamily="34" charset="-120"/>
              </a:rPr>
              <a:t>Plain Claude Code + a good CLAUDE.md is the </a:t>
            </a:r>
            <a:r>
              <a:rPr lang="en-US" sz="1400" b="1" dirty="0">
                <a:solidFill>
                  <a:srgbClr val="E6E9EE"/>
                </a:solidFill>
                <a:latin typeface="IBM Plex Sans" pitchFamily="34" charset="0"/>
                <a:ea typeface="IBM Plex Sans" pitchFamily="34" charset="-122"/>
                <a:cs typeface="IBM Plex Sans" pitchFamily="34" charset="-120"/>
              </a:rPr>
              <a:t>default</a:t>
            </a:r>
            <a:r>
              <a:rPr lang="en-US" sz="1400" dirty="0">
                <a:solidFill>
                  <a:srgbClr val="E6E9EE"/>
                </a:solidFill>
                <a:latin typeface="IBM Plex Sans" pitchFamily="34" charset="0"/>
                <a:ea typeface="IBM Plex Sans" pitchFamily="34" charset="-122"/>
                <a:cs typeface="IBM Plex Sans" pitchFamily="34" charset="-120"/>
              </a:rPr>
              <a:t> for small, clear tickets</a:t>
            </a:r>
            <a:endParaRPr lang="en-US" sz="1400" dirty="0"/>
          </a:p>
        </p:txBody>
      </p:sp>
      <p:sp>
        <p:nvSpPr>
          <p:cNvPr id="7" name="Shape 5"/>
          <p:cNvSpPr/>
          <p:nvPr/>
        </p:nvSpPr>
        <p:spPr>
          <a:xfrm>
            <a:off x="812800" y="2534915"/>
            <a:ext cx="10566400" cy="581660"/>
          </a:xfrm>
          <a:prstGeom prst="roundRect">
            <a:avLst>
              <a:gd name="adj" fmla="val 17467"/>
            </a:avLst>
          </a:prstGeom>
          <a:solidFill>
            <a:srgbClr val="22304A"/>
          </a:solidFill>
          <a:ln/>
        </p:spPr>
      </p:sp>
      <p:sp>
        <p:nvSpPr>
          <p:cNvPr id="8" name="Text 6"/>
          <p:cNvSpPr/>
          <p:nvPr/>
        </p:nvSpPr>
        <p:spPr>
          <a:xfrm>
            <a:off x="1016000" y="2674615"/>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A65A"/>
                </a:solidFill>
                <a:latin typeface="IBM Plex Sans" pitchFamily="34" charset="0"/>
                <a:ea typeface="IBM Plex Sans" pitchFamily="34" charset="-122"/>
                <a:cs typeface="IBM Plex Sans" pitchFamily="34" charset="-120"/>
              </a:rPr>
              <a:t>Think with MP</a:t>
            </a:r>
            <a:endParaRPr lang="en-US" sz="1700" dirty="0"/>
          </a:p>
        </p:txBody>
      </p:sp>
      <p:sp>
        <p:nvSpPr>
          <p:cNvPr id="9" name="Text 7"/>
          <p:cNvSpPr/>
          <p:nvPr/>
        </p:nvSpPr>
        <p:spPr>
          <a:xfrm>
            <a:off x="3632200" y="2705733"/>
            <a:ext cx="777011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6E9EE"/>
                </a:solidFill>
                <a:latin typeface="IBM Plex Sans" pitchFamily="34" charset="0"/>
                <a:ea typeface="IBM Plex Sans" pitchFamily="34" charset="-122"/>
                <a:cs typeface="IBM Plex Sans" pitchFamily="34" charset="-120"/>
              </a:rPr>
              <a:t>Grill → spec → tickets </a:t>
            </a:r>
            <a:r>
              <a:rPr lang="en-US" sz="1400" b="1" dirty="0">
                <a:solidFill>
                  <a:srgbClr val="E6E9EE"/>
                </a:solidFill>
                <a:latin typeface="IBM Plex Sans" pitchFamily="34" charset="0"/>
                <a:ea typeface="IBM Plex Sans" pitchFamily="34" charset="-122"/>
                <a:cs typeface="IBM Plex Sans" pitchFamily="34" charset="-120"/>
              </a:rPr>
              <a:t>only</a:t>
            </a:r>
            <a:r>
              <a:rPr lang="en-US" sz="1400" dirty="0">
                <a:solidFill>
                  <a:srgbClr val="E6E9EE"/>
                </a:solidFill>
                <a:latin typeface="IBM Plex Sans" pitchFamily="34" charset="0"/>
                <a:ea typeface="IBM Plex Sans" pitchFamily="34" charset="-122"/>
                <a:cs typeface="IBM Plex Sans" pitchFamily="34" charset="-120"/>
              </a:rPr>
              <a:t> when the ticket is unclear or large</a:t>
            </a:r>
            <a:endParaRPr lang="en-US" sz="1400" dirty="0"/>
          </a:p>
        </p:txBody>
      </p:sp>
      <p:sp>
        <p:nvSpPr>
          <p:cNvPr id="10" name="Shape 8"/>
          <p:cNvSpPr/>
          <p:nvPr/>
        </p:nvSpPr>
        <p:spPr>
          <a:xfrm>
            <a:off x="812800" y="3243585"/>
            <a:ext cx="10566400" cy="581660"/>
          </a:xfrm>
          <a:prstGeom prst="roundRect">
            <a:avLst>
              <a:gd name="adj" fmla="val 17467"/>
            </a:avLst>
          </a:prstGeom>
          <a:solidFill>
            <a:srgbClr val="22304A"/>
          </a:solidFill>
          <a:ln/>
        </p:spPr>
      </p:sp>
      <p:sp>
        <p:nvSpPr>
          <p:cNvPr id="11" name="Text 9"/>
          <p:cNvSpPr/>
          <p:nvPr/>
        </p:nvSpPr>
        <p:spPr>
          <a:xfrm>
            <a:off x="1016000" y="3383285"/>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A65A"/>
                </a:solidFill>
                <a:latin typeface="IBM Plex Sans" pitchFamily="34" charset="0"/>
                <a:ea typeface="IBM Plex Sans" pitchFamily="34" charset="-122"/>
                <a:cs typeface="IBM Plex Sans" pitchFamily="34" charset="-120"/>
              </a:rPr>
              <a:t>Build with ECC</a:t>
            </a:r>
            <a:endParaRPr lang="en-US" sz="1700" dirty="0"/>
          </a:p>
        </p:txBody>
      </p:sp>
      <p:sp>
        <p:nvSpPr>
          <p:cNvPr id="12" name="Text 10"/>
          <p:cNvSpPr/>
          <p:nvPr/>
        </p:nvSpPr>
        <p:spPr>
          <a:xfrm>
            <a:off x="3632200" y="3414390"/>
            <a:ext cx="777011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6E9EE"/>
                </a:solidFill>
                <a:latin typeface="IBM Plex Sans" pitchFamily="34" charset="0"/>
                <a:ea typeface="IBM Plex Sans" pitchFamily="34" charset="-122"/>
                <a:cs typeface="IBM Plex Sans" pitchFamily="34" charset="-120"/>
              </a:rPr>
              <a:t>Plan → TDD → review when correctness, security or tests matter</a:t>
            </a:r>
            <a:endParaRPr lang="en-US" sz="1400" dirty="0"/>
          </a:p>
        </p:txBody>
      </p:sp>
      <p:sp>
        <p:nvSpPr>
          <p:cNvPr id="13" name="Shape 11"/>
          <p:cNvSpPr/>
          <p:nvPr/>
        </p:nvSpPr>
        <p:spPr>
          <a:xfrm>
            <a:off x="812800" y="3952242"/>
            <a:ext cx="10566400" cy="581660"/>
          </a:xfrm>
          <a:prstGeom prst="roundRect">
            <a:avLst>
              <a:gd name="adj" fmla="val 17467"/>
            </a:avLst>
          </a:prstGeom>
          <a:solidFill>
            <a:srgbClr val="22304A"/>
          </a:solidFill>
          <a:ln/>
        </p:spPr>
      </p:sp>
      <p:sp>
        <p:nvSpPr>
          <p:cNvPr id="14" name="Text 12"/>
          <p:cNvSpPr/>
          <p:nvPr/>
        </p:nvSpPr>
        <p:spPr>
          <a:xfrm>
            <a:off x="1016000" y="4091942"/>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C2D0"/>
                </a:solidFill>
                <a:latin typeface="IBM Plex Sans" pitchFamily="34" charset="0"/>
                <a:ea typeface="IBM Plex Sans" pitchFamily="34" charset="-122"/>
                <a:cs typeface="IBM Plex Sans" pitchFamily="34" charset="-120"/>
              </a:rPr>
              <a:t>Skip for now</a:t>
            </a:r>
            <a:endParaRPr lang="en-US" sz="1700" dirty="0"/>
          </a:p>
        </p:txBody>
      </p:sp>
      <p:sp>
        <p:nvSpPr>
          <p:cNvPr id="15" name="Text 13"/>
          <p:cNvSpPr/>
          <p:nvPr/>
        </p:nvSpPr>
        <p:spPr>
          <a:xfrm>
            <a:off x="3632200" y="4123060"/>
            <a:ext cx="7770114"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6E9EE"/>
                </a:solidFill>
                <a:latin typeface="IBM Plex Sans" pitchFamily="34" charset="0"/>
                <a:ea typeface="IBM Plex Sans" pitchFamily="34" charset="-122"/>
                <a:cs typeface="IBM Plex Sans" pitchFamily="34" charset="-120"/>
              </a:rPr>
              <a:t>Graphify; both full plugins side by side; ECC's auto-memory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DECISION GUIDE FOR DEVELOPERS</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Which workflow for this ticket?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58"/>
          <a:ext cx="10553700" cy="2103755"/>
        </p:xfrm>
        <a:graphic>
          <a:graphicData uri="http://schemas.openxmlformats.org/drawingml/2006/table">
            <a:tbl>
              <a:tblPr/>
              <a:tblGrid>
                <a:gridCol w="2110740"/>
                <a:gridCol w="4010406"/>
                <a:gridCol w="4432554"/>
              </a:tblGrid>
              <a:tr h="612775">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Ticket is…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Mistakes are cheap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890"/>
                        </a:lnSpc>
                        <a:buNone/>
                      </a:pPr>
                      <a:r>
                        <a:rPr lang="en-US" sz="1350" b="1" dirty="0">
                          <a:solidFill>
                            <a:srgbClr val="F6F5F1"/>
                          </a:solidFill>
                          <a:latin typeface="IBM Plex Sans" pitchFamily="34" charset="0"/>
                          <a:ea typeface="IBM Plex Sans" pitchFamily="34" charset="-122"/>
                          <a:cs typeface="IBM Plex Sans" pitchFamily="34" charset="-120"/>
                        </a:rPr>
                        <a:t>Mistakes are costly (input, IDs, auth, money, concurrency)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Trivial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Plain Claude Code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Plain Claude Code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Clear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Plain Claude Code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ECC: /ecc:plan → TDD → review → fix</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Unclear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MP grill → spec, then build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MP grill → spec, then ECC build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2745">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Large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C0"/>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MP tickets, one build each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890"/>
                        </a:lnSpc>
                        <a:buNone/>
                      </a:pPr>
                      <a:r>
                        <a:rPr lang="en-US" sz="1350" dirty="0">
                          <a:solidFill>
                            <a:srgbClr val="16202E"/>
                          </a:solidFill>
                          <a:latin typeface="IBM Plex Sans" pitchFamily="34" charset="0"/>
                          <a:ea typeface="IBM Plex Sans" pitchFamily="34" charset="-122"/>
                          <a:cs typeface="IBM Plex Sans" pitchFamily="34" charset="-120"/>
                        </a:rPr>
                        <a:t>MP tickets, one ECC build each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
        <p:nvSpPr>
          <p:cNvPr id="5" name="Text 2"/>
          <p:cNvSpPr/>
          <p:nvPr/>
        </p:nvSpPr>
        <p:spPr>
          <a:xfrm>
            <a:off x="815975" y="4149092"/>
            <a:ext cx="2520950" cy="773430"/>
          </a:xfrm>
          <a:prstGeom prst="roundRect">
            <a:avLst>
              <a:gd name="adj" fmla="val 12726"/>
            </a:avLst>
          </a:prstGeom>
          <a:solidFill>
            <a:srgbClr val="FDFCF9"/>
          </a:solidFill>
          <a:ln w="6350">
            <a:solidFill>
              <a:srgbClr val="E2DFD6"/>
            </a:solidFill>
            <a:prstDash val="solid"/>
          </a:ln>
        </p:spPr>
        <p:txBody>
          <a:bodyPr wrap="square" lIns="126747" tIns="126747" rIns="60453" bIns="101347" rtlCol="0" anchor="t">
            <a:normAutofit/>
          </a:bodyPr>
          <a:lstStyle/>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1</a:t>
            </a:r>
            <a:r>
              <a:rPr lang="en-US" sz="1300" dirty="0">
                <a:solidFill>
                  <a:srgbClr val="16202E"/>
                </a:solidFill>
                <a:latin typeface="IBM Plex Sans" pitchFamily="34" charset="0"/>
                <a:ea typeface="IBM Plex Sans" pitchFamily="34" charset="-122"/>
                <a:cs typeface="IBM Plex Sans" pitchFamily="34" charset="-120"/>
              </a:rPr>
              <a:t> · Start plain</a:t>
            </a:r>
            <a:endParaRPr lang="en-US" sz="1300" dirty="0"/>
          </a:p>
        </p:txBody>
      </p:sp>
      <p:sp>
        <p:nvSpPr>
          <p:cNvPr id="6" name="Text 3"/>
          <p:cNvSpPr/>
          <p:nvPr/>
        </p:nvSpPr>
        <p:spPr>
          <a:xfrm>
            <a:off x="3495675" y="4149092"/>
            <a:ext cx="2520950" cy="773430"/>
          </a:xfrm>
          <a:prstGeom prst="roundRect">
            <a:avLst>
              <a:gd name="adj" fmla="val 12726"/>
            </a:avLst>
          </a:prstGeom>
          <a:solidFill>
            <a:srgbClr val="FDFCF9"/>
          </a:solidFill>
          <a:ln w="6350">
            <a:solidFill>
              <a:srgbClr val="E2DFD6"/>
            </a:solidFill>
            <a:prstDash val="solid"/>
          </a:ln>
        </p:spPr>
        <p:txBody>
          <a:bodyPr wrap="square" lIns="126747" tIns="126747" rIns="60453" bIns="101347" rtlCol="0" anchor="t">
            <a:normAutofit/>
          </a:bodyPr>
          <a:lstStyle/>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2</a:t>
            </a:r>
            <a:r>
              <a:rPr lang="en-US" sz="1300" dirty="0">
                <a:solidFill>
                  <a:srgbClr val="16202E"/>
                </a:solidFill>
                <a:latin typeface="IBM Plex Sans" pitchFamily="34" charset="0"/>
                <a:ea typeface="IBM Plex Sans" pitchFamily="34" charset="-122"/>
                <a:cs typeface="IBM Plex Sans" pitchFamily="34" charset="-120"/>
              </a:rPr>
              <a:t> · Unsure what should happen? Grill first</a:t>
            </a:r>
            <a:endParaRPr lang="en-US" sz="1300" dirty="0"/>
          </a:p>
        </p:txBody>
      </p:sp>
      <p:sp>
        <p:nvSpPr>
          <p:cNvPr id="7" name="Text 4"/>
          <p:cNvSpPr/>
          <p:nvPr/>
        </p:nvSpPr>
        <p:spPr>
          <a:xfrm>
            <a:off x="6175375" y="4149092"/>
            <a:ext cx="2520950" cy="773430"/>
          </a:xfrm>
          <a:prstGeom prst="roundRect">
            <a:avLst>
              <a:gd name="adj" fmla="val 12726"/>
            </a:avLst>
          </a:prstGeom>
          <a:solidFill>
            <a:srgbClr val="FDFCF9"/>
          </a:solidFill>
          <a:ln w="6350">
            <a:solidFill>
              <a:srgbClr val="E2DFD6"/>
            </a:solidFill>
            <a:prstDash val="solid"/>
          </a:ln>
        </p:spPr>
        <p:txBody>
          <a:bodyPr wrap="square" lIns="126747" tIns="126747" rIns="60453" bIns="101347" rtlCol="0" anchor="t">
            <a:normAutofit/>
          </a:bodyPr>
          <a:lstStyle/>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3</a:t>
            </a:r>
            <a:r>
              <a:rPr lang="en-US" sz="1300" dirty="0">
                <a:solidFill>
                  <a:srgbClr val="16202E"/>
                </a:solidFill>
                <a:latin typeface="IBM Plex Sans" pitchFamily="34" charset="0"/>
                <a:ea typeface="IBM Plex Sans" pitchFamily="34" charset="-122"/>
                <a:cs typeface="IBM Plex Sans" pitchFamily="34" charset="-120"/>
              </a:rPr>
              <a:t> · Risky? Fix every behaviour finding</a:t>
            </a:r>
            <a:endParaRPr lang="en-US" sz="1300" dirty="0"/>
          </a:p>
        </p:txBody>
      </p:sp>
      <p:sp>
        <p:nvSpPr>
          <p:cNvPr id="8" name="Text 5"/>
          <p:cNvSpPr/>
          <p:nvPr/>
        </p:nvSpPr>
        <p:spPr>
          <a:xfrm>
            <a:off x="8855075" y="4149092"/>
            <a:ext cx="2520950" cy="773430"/>
          </a:xfrm>
          <a:prstGeom prst="roundRect">
            <a:avLst>
              <a:gd name="adj" fmla="val 12726"/>
            </a:avLst>
          </a:prstGeom>
          <a:solidFill>
            <a:srgbClr val="FDFCF9"/>
          </a:solidFill>
          <a:ln w="6350">
            <a:solidFill>
              <a:srgbClr val="E2DFD6"/>
            </a:solidFill>
            <a:prstDash val="solid"/>
          </a:ln>
        </p:spPr>
        <p:txBody>
          <a:bodyPr wrap="square" lIns="126747" tIns="126747" rIns="60453" bIns="101347" rtlCol="0" anchor="t">
            <a:normAutofit/>
          </a:bodyPr>
          <a:lstStyle/>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4</a:t>
            </a:r>
            <a:r>
              <a:rPr lang="en-US" sz="1300" dirty="0">
                <a:solidFill>
                  <a:srgbClr val="16202E"/>
                </a:solidFill>
                <a:latin typeface="IBM Plex Sans" pitchFamily="34" charset="0"/>
                <a:ea typeface="IBM Plex Sans" pitchFamily="34" charset="-122"/>
                <a:cs typeface="IBM Plex Sans" pitchFamily="34" charset="-120"/>
              </a:rPr>
              <a:t> · Too big? Slice into tickets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NEXT STEP</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A 2-week pilot on real Helios tickets</a:t>
            </a:r>
            <a:endParaRPr lang="en-US" sz="3000" dirty="0"/>
          </a:p>
        </p:txBody>
      </p:sp>
      <p:sp>
        <p:nvSpPr>
          <p:cNvPr id="4" name="Shape 2"/>
          <p:cNvSpPr/>
          <p:nvPr/>
        </p:nvSpPr>
        <p:spPr>
          <a:xfrm>
            <a:off x="815975" y="1778633"/>
            <a:ext cx="2501900" cy="1408113"/>
          </a:xfrm>
          <a:prstGeom prst="roundRect">
            <a:avLst>
              <a:gd name="adj" fmla="val 6990"/>
            </a:avLst>
          </a:prstGeom>
          <a:solidFill>
            <a:srgbClr val="FDFCF9"/>
          </a:solidFill>
          <a:ln w="6350">
            <a:solidFill>
              <a:srgbClr val="E2DFD6"/>
            </a:solidFill>
            <a:prstDash val="solid"/>
          </a:ln>
        </p:spPr>
      </p:sp>
      <p:sp>
        <p:nvSpPr>
          <p:cNvPr id="5" name="Text 3"/>
          <p:cNvSpPr/>
          <p:nvPr/>
        </p:nvSpPr>
        <p:spPr>
          <a:xfrm>
            <a:off x="1022350" y="1985008"/>
            <a:ext cx="21518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1 · Set up</a:t>
            </a:r>
            <a:endParaRPr lang="en-US" sz="1500" dirty="0"/>
          </a:p>
        </p:txBody>
      </p:sp>
      <p:sp>
        <p:nvSpPr>
          <p:cNvPr id="6" name="Text 4"/>
          <p:cNvSpPr/>
          <p:nvPr/>
        </p:nvSpPr>
        <p:spPr>
          <a:xfrm>
            <a:off x="1022350" y="2289808"/>
            <a:ext cx="2151825"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IBM Plex Sans" pitchFamily="34" charset="0"/>
                <a:ea typeface="IBM Plex Sans" pitchFamily="34" charset="-122"/>
                <a:cs typeface="IBM Plex Sans" pitchFamily="34" charset="-120"/>
              </a:rPr>
              <a:t>1–2 developers, one Helios repo, Path 2 installed at project scope</a:t>
            </a:r>
            <a:endParaRPr lang="en-US" sz="1250" dirty="0"/>
          </a:p>
        </p:txBody>
      </p:sp>
      <p:sp>
        <p:nvSpPr>
          <p:cNvPr id="7" name="Shape 5"/>
          <p:cNvSpPr/>
          <p:nvPr/>
        </p:nvSpPr>
        <p:spPr>
          <a:xfrm>
            <a:off x="3502025" y="1778633"/>
            <a:ext cx="2501900" cy="1408113"/>
          </a:xfrm>
          <a:prstGeom prst="roundRect">
            <a:avLst>
              <a:gd name="adj" fmla="val 6990"/>
            </a:avLst>
          </a:prstGeom>
          <a:solidFill>
            <a:srgbClr val="FDFCF9"/>
          </a:solidFill>
          <a:ln w="6350">
            <a:solidFill>
              <a:srgbClr val="E2DFD6"/>
            </a:solidFill>
            <a:prstDash val="solid"/>
          </a:ln>
        </p:spPr>
      </p:sp>
      <p:sp>
        <p:nvSpPr>
          <p:cNvPr id="8" name="Text 6"/>
          <p:cNvSpPr/>
          <p:nvPr/>
        </p:nvSpPr>
        <p:spPr>
          <a:xfrm>
            <a:off x="3708400" y="1985008"/>
            <a:ext cx="21518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2 · Pick tickets</a:t>
            </a:r>
            <a:endParaRPr lang="en-US" sz="1500" dirty="0"/>
          </a:p>
        </p:txBody>
      </p:sp>
      <p:sp>
        <p:nvSpPr>
          <p:cNvPr id="9" name="Text 7"/>
          <p:cNvSpPr/>
          <p:nvPr/>
        </p:nvSpPr>
        <p:spPr>
          <a:xfrm>
            <a:off x="3708400" y="2289808"/>
            <a:ext cx="2151825"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IBM Plex Sans" pitchFamily="34" charset="0"/>
                <a:ea typeface="IBM Plex Sans" pitchFamily="34" charset="-122"/>
                <a:cs typeface="IBM Plex Sans" pitchFamily="34" charset="-120"/>
              </a:rPr>
              <a:t>At least one each: clear, unclear, security-sensitive, multi-session</a:t>
            </a:r>
            <a:endParaRPr lang="en-US" sz="1250" dirty="0"/>
          </a:p>
        </p:txBody>
      </p:sp>
      <p:sp>
        <p:nvSpPr>
          <p:cNvPr id="10" name="Shape 8"/>
          <p:cNvSpPr/>
          <p:nvPr/>
        </p:nvSpPr>
        <p:spPr>
          <a:xfrm>
            <a:off x="6188075" y="1778633"/>
            <a:ext cx="2501900" cy="1408113"/>
          </a:xfrm>
          <a:prstGeom prst="roundRect">
            <a:avLst>
              <a:gd name="adj" fmla="val 6990"/>
            </a:avLst>
          </a:prstGeom>
          <a:solidFill>
            <a:srgbClr val="FDFCF9"/>
          </a:solidFill>
          <a:ln w="6350">
            <a:solidFill>
              <a:srgbClr val="E2DFD6"/>
            </a:solidFill>
            <a:prstDash val="solid"/>
          </a:ln>
        </p:spPr>
      </p:sp>
      <p:sp>
        <p:nvSpPr>
          <p:cNvPr id="11" name="Text 9"/>
          <p:cNvSpPr/>
          <p:nvPr/>
        </p:nvSpPr>
        <p:spPr>
          <a:xfrm>
            <a:off x="6394450" y="1985008"/>
            <a:ext cx="21518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3 · Record</a:t>
            </a:r>
            <a:endParaRPr lang="en-US" sz="1500" dirty="0"/>
          </a:p>
        </p:txBody>
      </p:sp>
      <p:sp>
        <p:nvSpPr>
          <p:cNvPr id="12" name="Text 10"/>
          <p:cNvSpPr/>
          <p:nvPr/>
        </p:nvSpPr>
        <p:spPr>
          <a:xfrm>
            <a:off x="6394450" y="2289808"/>
            <a:ext cx="2151825"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IBM Plex Sans" pitchFamily="34" charset="0"/>
                <a:ea typeface="IBM Plex Sans" pitchFamily="34" charset="-122"/>
                <a:cs typeface="IBM Plex Sans" pitchFamily="34" charset="-120"/>
              </a:rPr>
              <a:t>Usage %, time, interruptions, review findings fixed, bugs after merge, "worth it?" 1–5</a:t>
            </a:r>
            <a:endParaRPr lang="en-US" sz="1250" dirty="0"/>
          </a:p>
        </p:txBody>
      </p:sp>
      <p:sp>
        <p:nvSpPr>
          <p:cNvPr id="13" name="Shape 11"/>
          <p:cNvSpPr/>
          <p:nvPr/>
        </p:nvSpPr>
        <p:spPr>
          <a:xfrm>
            <a:off x="8874125" y="1778633"/>
            <a:ext cx="2501900" cy="1408113"/>
          </a:xfrm>
          <a:prstGeom prst="roundRect">
            <a:avLst>
              <a:gd name="adj" fmla="val 6990"/>
            </a:avLst>
          </a:prstGeom>
          <a:solidFill>
            <a:srgbClr val="FDFCF9"/>
          </a:solidFill>
          <a:ln w="6350">
            <a:solidFill>
              <a:srgbClr val="E2DFD6"/>
            </a:solidFill>
            <a:prstDash val="solid"/>
          </a:ln>
        </p:spPr>
      </p:sp>
      <p:sp>
        <p:nvSpPr>
          <p:cNvPr id="14" name="Text 12"/>
          <p:cNvSpPr/>
          <p:nvPr/>
        </p:nvSpPr>
        <p:spPr>
          <a:xfrm>
            <a:off x="9080500" y="1985008"/>
            <a:ext cx="21518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4 · Decide</a:t>
            </a:r>
            <a:endParaRPr lang="en-US" sz="1500" dirty="0"/>
          </a:p>
        </p:txBody>
      </p:sp>
      <p:sp>
        <p:nvSpPr>
          <p:cNvPr id="15" name="Text 13"/>
          <p:cNvSpPr/>
          <p:nvPr/>
        </p:nvSpPr>
        <p:spPr>
          <a:xfrm>
            <a:off x="9080500" y="2289808"/>
            <a:ext cx="2151825"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IBM Plex Sans" pitchFamily="34" charset="0"/>
                <a:ea typeface="IBM Plex Sans" pitchFamily="34" charset="-122"/>
                <a:cs typeface="IBM Plex Sans" pitchFamily="34" charset="-120"/>
              </a:rPr>
              <a:t>Success → workflow doc v1.2 and roll out. Not → Path 1 or plain + MP</a:t>
            </a:r>
            <a:endParaRPr lang="en-US" sz="1250" dirty="0"/>
          </a:p>
        </p:txBody>
      </p:sp>
      <p:sp>
        <p:nvSpPr>
          <p:cNvPr id="16" name="Text 14"/>
          <p:cNvSpPr/>
          <p:nvPr/>
        </p:nvSpPr>
        <p:spPr>
          <a:xfrm>
            <a:off x="812800" y="3443920"/>
            <a:ext cx="108833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Success means all four</a:t>
            </a:r>
            <a:endParaRPr lang="en-US" sz="1600" dirty="0"/>
          </a:p>
        </p:txBody>
      </p:sp>
      <p:sp>
        <p:nvSpPr>
          <p:cNvPr id="17" name="Text 15"/>
          <p:cNvSpPr/>
          <p:nvPr/>
        </p:nvSpPr>
        <p:spPr>
          <a:xfrm>
            <a:off x="812800" y="3763963"/>
            <a:ext cx="260311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No more bugs than today</a:t>
            </a:r>
            <a:endParaRPr lang="en-US" sz="1250" dirty="0"/>
          </a:p>
        </p:txBody>
      </p:sp>
      <p:sp>
        <p:nvSpPr>
          <p:cNvPr id="18" name="Text 16"/>
          <p:cNvSpPr/>
          <p:nvPr/>
        </p:nvSpPr>
        <p:spPr>
          <a:xfrm>
            <a:off x="3492500" y="3763963"/>
            <a:ext cx="260311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Usage fits our Enterprise limits</a:t>
            </a:r>
            <a:endParaRPr lang="en-US" sz="1250" dirty="0"/>
          </a:p>
        </p:txBody>
      </p:sp>
      <p:sp>
        <p:nvSpPr>
          <p:cNvPr id="19" name="Text 17"/>
          <p:cNvSpPr/>
          <p:nvPr/>
        </p:nvSpPr>
        <p:spPr>
          <a:xfrm>
            <a:off x="6172200" y="3763963"/>
            <a:ext cx="260311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Review catches ≥ 1 real issue per feature</a:t>
            </a:r>
            <a:endParaRPr lang="en-US" sz="1250" dirty="0"/>
          </a:p>
        </p:txBody>
      </p:sp>
      <p:sp>
        <p:nvSpPr>
          <p:cNvPr id="20" name="Text 18"/>
          <p:cNvSpPr/>
          <p:nvPr/>
        </p:nvSpPr>
        <p:spPr>
          <a:xfrm>
            <a:off x="8851900" y="3763963"/>
            <a:ext cx="260311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Developers rate risky tickets ≥ 4/5</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A"/>
                </a:solidFill>
                <a:latin typeface="JetBrains Mono" pitchFamily="49" charset="0"/>
                <a:ea typeface="JetBrains Mono" pitchFamily="49" charset="-122"/>
                <a:cs typeface="JetBrains Mono" pitchFamily="49" charset="-120"/>
              </a:rPr>
              <a:t>READ THIS BEFORE QUOTING THE NUMBERS</a:t>
            </a:r>
            <a:endParaRPr lang="en-US" sz="1200" dirty="0"/>
          </a:p>
        </p:txBody>
      </p:sp>
      <p:sp>
        <p:nvSpPr>
          <p:cNvPr id="3" name="Text 1"/>
          <p:cNvSpPr/>
          <p:nvPr>
            <p:ph type="title"/>
          </p:nvPr>
        </p:nvSpPr>
        <p:spPr>
          <a:xfrm>
            <a:off x="812800" y="11023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6202E"/>
                </a:solidFill>
                <a:latin typeface="IBM Plex Sans" pitchFamily="34" charset="0"/>
                <a:ea typeface="IBM Plex Sans" pitchFamily="34" charset="-122"/>
                <a:cs typeface="IBM Plex Sans" pitchFamily="34" charset="-120"/>
              </a:rPr>
              <a:t>Limitations</a:t>
            </a:r>
            <a:endParaRPr lang="en-US" sz="3000" dirty="0"/>
          </a:p>
        </p:txBody>
      </p:sp>
      <p:sp>
        <p:nvSpPr>
          <p:cNvPr id="4" name="Text 2"/>
          <p:cNvSpPr/>
          <p:nvPr/>
        </p:nvSpPr>
        <p:spPr>
          <a:xfrm>
            <a:off x="812800" y="1826258"/>
            <a:ext cx="52847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Both evaluations</a:t>
            </a:r>
            <a:endParaRPr lang="en-US" sz="1600" dirty="0"/>
          </a:p>
        </p:txBody>
      </p:sp>
      <p:sp>
        <p:nvSpPr>
          <p:cNvPr id="5" name="Text 3"/>
          <p:cNvSpPr/>
          <p:nvPr/>
        </p:nvSpPr>
        <p:spPr>
          <a:xfrm>
            <a:off x="897763" y="2171700"/>
            <a:ext cx="5192141" cy="775970"/>
          </a:xfrm>
          <a:prstGeom prst="rect">
            <a:avLst/>
          </a:prstGeom>
          <a:noFill/>
          <a:ln/>
        </p:spPr>
        <p:txBody>
          <a:bodyPr wrap="square" lIns="0" tIns="0" rIns="0" bIns="0" rtlCol="0" anchor="t">
            <a:normAutofit/>
          </a:bodyPr>
          <a:lstStyle/>
          <a:p>
            <a:pPr algn="l" marL="169037" indent="-169037">
              <a:lnSpc>
                <a:spcPts val="1958"/>
              </a:lnSpc>
              <a:buSzPct val="100000"/>
              <a:buChar char="•"/>
            </a:pPr>
            <a:r>
              <a:rPr lang="en-US" sz="1350" b="1" dirty="0">
                <a:solidFill>
                  <a:srgbClr val="16202E"/>
                </a:solidFill>
                <a:latin typeface="IBM Plex Sans" pitchFamily="34" charset="0"/>
                <a:ea typeface="IBM Plex Sans" pitchFamily="34" charset="-122"/>
                <a:cs typeface="IBM Plex Sans" pitchFamily="34" charset="-120"/>
              </a:rPr>
              <a:t>n = 1</a:t>
            </a:r>
            <a:r>
              <a:rPr lang="en-US" sz="1350" dirty="0">
                <a:solidFill>
                  <a:srgbClr val="4A5568"/>
                </a:solidFill>
                <a:latin typeface="IBM Plex Sans" pitchFamily="34" charset="0"/>
                <a:ea typeface="IBM Plex Sans" pitchFamily="34" charset="-122"/>
                <a:cs typeface="IBM Plex Sans" pitchFamily="34" charset="-120"/>
              </a:rPr>
              <a:t> per setup: a case study, not statistics</a:t>
            </a:r>
            <a:endParaRPr lang="en-US" sz="1350" dirty="0"/>
          </a:p>
          <a:p>
            <a:pPr algn="l" marL="169037" indent="-169037">
              <a:lnSpc>
                <a:spcPts val="1958"/>
              </a:lnSpc>
              <a:buSzPct val="100000"/>
              <a:buChar char="•"/>
            </a:pPr>
            <a:r>
              <a:rPr lang="en-US" sz="1350" dirty="0">
                <a:solidFill>
                  <a:srgbClr val="4A5568"/>
                </a:solidFill>
                <a:latin typeface="IBM Plex Sans" pitchFamily="34" charset="0"/>
                <a:ea typeface="IBM Plex Sans" pitchFamily="34" charset="-122"/>
                <a:cs typeface="IBM Plex Sans" pitchFamily="34" charset="-120"/>
              </a:rPr>
              <a:t>One model (Opus 5.5, medium), Windows laptop, Pro plan</a:t>
            </a:r>
            <a:endParaRPr lang="en-US" sz="1350" dirty="0"/>
          </a:p>
          <a:p>
            <a:pPr algn="l" marL="169037" indent="-169037">
              <a:lnSpc>
                <a:spcPts val="1958"/>
              </a:lnSpc>
              <a:buSzPct val="100000"/>
              <a:buChar char="•"/>
            </a:pPr>
            <a:r>
              <a:rPr lang="en-US" sz="1350" dirty="0">
                <a:solidFill>
                  <a:srgbClr val="4A5568"/>
                </a:solidFill>
                <a:latin typeface="IBM Plex Sans" pitchFamily="34" charset="0"/>
                <a:ea typeface="IBM Plex Sans" pitchFamily="34" charset="-122"/>
                <a:cs typeface="IBM Plex Sans" pitchFamily="34" charset="-120"/>
              </a:rPr>
              <a:t>Small token or time differences are within normal variation</a:t>
            </a:r>
            <a:endParaRPr lang="en-US" sz="1350" dirty="0"/>
          </a:p>
        </p:txBody>
      </p:sp>
      <p:sp>
        <p:nvSpPr>
          <p:cNvPr id="6" name="Text 4"/>
          <p:cNvSpPr/>
          <p:nvPr/>
        </p:nvSpPr>
        <p:spPr>
          <a:xfrm>
            <a:off x="6248400" y="1826258"/>
            <a:ext cx="52847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Not tested</a:t>
            </a:r>
            <a:endParaRPr lang="en-US" sz="1600" dirty="0"/>
          </a:p>
        </p:txBody>
      </p:sp>
      <p:sp>
        <p:nvSpPr>
          <p:cNvPr id="7" name="Text 5"/>
          <p:cNvSpPr/>
          <p:nvPr/>
        </p:nvSpPr>
        <p:spPr>
          <a:xfrm>
            <a:off x="6333363" y="2171700"/>
            <a:ext cx="5192141" cy="1274763"/>
          </a:xfrm>
          <a:prstGeom prst="rect">
            <a:avLst/>
          </a:prstGeom>
          <a:noFill/>
          <a:ln/>
        </p:spPr>
        <p:txBody>
          <a:bodyPr wrap="square" lIns="0" tIns="0" rIns="0" bIns="0" rtlCol="0" anchor="t">
            <a:normAutofit/>
          </a:bodyPr>
          <a:lstStyle/>
          <a:p>
            <a:pPr algn="l" marL="169037" indent="-169037">
              <a:lnSpc>
                <a:spcPts val="1958"/>
              </a:lnSpc>
              <a:buSzPct val="100000"/>
              <a:buChar char="•"/>
            </a:pPr>
            <a:r>
              <a:rPr lang="en-US" sz="1350" dirty="0">
                <a:solidFill>
                  <a:srgbClr val="4A5568"/>
                </a:solidFill>
                <a:latin typeface="IBM Plex Sans" pitchFamily="34" charset="0"/>
                <a:ea typeface="IBM Plex Sans" pitchFamily="34" charset="-122"/>
                <a:cs typeface="IBM Plex Sans" pitchFamily="34" charset="-120"/>
              </a:rPr>
              <a:t>The recommended </a:t>
            </a:r>
            <a:r>
              <a:rPr lang="en-US" sz="1350" b="1" dirty="0">
                <a:solidFill>
                  <a:srgbClr val="16202E"/>
                </a:solidFill>
                <a:latin typeface="IBM Plex Sans" pitchFamily="34" charset="0"/>
                <a:ea typeface="IBM Plex Sans" pitchFamily="34" charset="-122"/>
                <a:cs typeface="IBM Plex Sans" pitchFamily="34" charset="-120"/>
              </a:rPr>
              <a:t>combination</a:t>
            </a:r>
            <a:r>
              <a:rPr lang="en-US" sz="1350" dirty="0">
                <a:solidFill>
                  <a:srgbClr val="4A5568"/>
                </a:solidFill>
                <a:latin typeface="IBM Plex Sans" pitchFamily="34" charset="0"/>
                <a:ea typeface="IBM Plex Sans" pitchFamily="34" charset="-122"/>
                <a:cs typeface="IBM Plex Sans" pitchFamily="34" charset="-120"/>
              </a:rPr>
              <a:t> as a whole</a:t>
            </a:r>
            <a:endParaRPr lang="en-US" sz="1350" dirty="0"/>
          </a:p>
          <a:p>
            <a:pPr algn="l" marL="169037" indent="-169037">
              <a:lnSpc>
                <a:spcPts val="1958"/>
              </a:lnSpc>
              <a:buSzPct val="100000"/>
              <a:buChar char="•"/>
            </a:pPr>
            <a:r>
              <a:rPr lang="en-US" sz="1350" dirty="0">
                <a:solidFill>
                  <a:srgbClr val="4A5568"/>
                </a:solidFill>
                <a:latin typeface="IBM Plex Sans" pitchFamily="34" charset="0"/>
                <a:ea typeface="IBM Plex Sans" pitchFamily="34" charset="-122"/>
                <a:cs typeface="IBM Plex Sans" pitchFamily="34" charset="-120"/>
              </a:rPr>
              <a:t>ECC's security reviewer; ECC without GateGuard</a:t>
            </a:r>
            <a:endParaRPr lang="en-US" sz="1350" dirty="0"/>
          </a:p>
          <a:p>
            <a:pPr algn="l" marL="169037" indent="-169037">
              <a:lnSpc>
                <a:spcPts val="1958"/>
              </a:lnSpc>
              <a:buSzPct val="100000"/>
              <a:buChar char="•"/>
            </a:pPr>
            <a:r>
              <a:rPr lang="en-US" sz="1350" dirty="0">
                <a:solidFill>
                  <a:srgbClr val="4A5568"/>
                </a:solidFill>
                <a:latin typeface="IBM Plex Sans" pitchFamily="34" charset="0"/>
                <a:ea typeface="IBM Plex Sans" pitchFamily="34" charset="-122"/>
                <a:cs typeface="IBM Plex Sans" pitchFamily="34" charset="-120"/>
              </a:rPr>
              <a:t>Graphify's AI mode for docs and PDFs; repos much bigger than memos</a:t>
            </a:r>
            <a:endParaRPr lang="en-US" sz="1350" dirty="0"/>
          </a:p>
          <a:p>
            <a:pPr algn="l" marL="169037" indent="-169037">
              <a:lnSpc>
                <a:spcPts val="1958"/>
              </a:lnSpc>
              <a:buSzPct val="100000"/>
              <a:buChar char="•"/>
            </a:pPr>
            <a:r>
              <a:rPr lang="en-US" sz="1350" dirty="0">
                <a:solidFill>
                  <a:srgbClr val="4A5568"/>
                </a:solidFill>
                <a:latin typeface="IBM Plex Sans" pitchFamily="34" charset="0"/>
                <a:ea typeface="IBM Plex Sans" pitchFamily="34" charset="-122"/>
                <a:cs typeface="IBM Plex Sans" pitchFamily="34" charset="-120"/>
              </a:rPr>
              <a:t>Protocol: ECC's MEDIUM findings left unfixed by our rules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2A65A"/>
                </a:solidFill>
                <a:latin typeface="JetBrains Mono" pitchFamily="49" charset="0"/>
                <a:ea typeface="JetBrains Mono" pitchFamily="49" charset="-122"/>
                <a:cs typeface="JetBrains Mono" pitchFamily="49" charset="-120"/>
              </a:rPr>
              <a:t>THANK YOU</a:t>
            </a:r>
            <a:endParaRPr lang="en-US" sz="1400" dirty="0"/>
          </a:p>
        </p:txBody>
      </p:sp>
      <p:sp>
        <p:nvSpPr>
          <p:cNvPr id="3" name="Text 1"/>
          <p:cNvSpPr/>
          <p:nvPr>
            <p:ph type="title"/>
          </p:nvPr>
        </p:nvSpPr>
        <p:spPr>
          <a:xfrm>
            <a:off x="812800" y="2932435"/>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5F1"/>
                </a:solidFill>
                <a:latin typeface="IBM Plex Sans" pitchFamily="34" charset="0"/>
                <a:ea typeface="IBM Plex Sans" pitchFamily="34" charset="-122"/>
                <a:cs typeface="IBM Plex Sans" pitchFamily="34" charset="-120"/>
              </a:rPr>
              <a:t>Questions?</a:t>
            </a:r>
            <a:endParaRPr lang="en-US" sz="5600" dirty="0"/>
          </a:p>
        </p:txBody>
      </p:sp>
      <p:sp>
        <p:nvSpPr>
          <p:cNvPr id="4" name="Text 2"/>
          <p:cNvSpPr/>
          <p:nvPr/>
        </p:nvSpPr>
        <p:spPr>
          <a:xfrm>
            <a:off x="812800" y="5549900"/>
            <a:ext cx="34185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65A"/>
                </a:solidFill>
                <a:latin typeface="IBM Plex Sans" pitchFamily="34" charset="0"/>
                <a:ea typeface="IBM Plex Sans" pitchFamily="34" charset="-122"/>
                <a:cs typeface="IBM Plex Sans" pitchFamily="34" charset="-120"/>
              </a:rPr>
              <a:t>Full report</a:t>
            </a:r>
            <a:endParaRPr lang="en-US" sz="1300" dirty="0"/>
          </a:p>
        </p:txBody>
      </p:sp>
      <p:sp>
        <p:nvSpPr>
          <p:cNvPr id="5" name="Text 3"/>
          <p:cNvSpPr/>
          <p:nvPr/>
        </p:nvSpPr>
        <p:spPr>
          <a:xfrm>
            <a:off x="812800" y="5831842"/>
            <a:ext cx="34185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9EE"/>
                </a:solidFill>
                <a:latin typeface="JetBrains Mono" pitchFamily="49" charset="0"/>
                <a:ea typeface="JetBrains Mono" pitchFamily="49" charset="-122"/>
                <a:cs typeface="JetBrains Mono" pitchFamily="49" charset="-120"/>
              </a:rPr>
              <a:t>docs/EVALUATION-REPORT.md</a:t>
            </a:r>
            <a:endParaRPr lang="en-US" sz="1200" dirty="0"/>
          </a:p>
        </p:txBody>
      </p:sp>
      <p:sp>
        <p:nvSpPr>
          <p:cNvPr id="6" name="Text 4"/>
          <p:cNvSpPr/>
          <p:nvPr/>
        </p:nvSpPr>
        <p:spPr>
          <a:xfrm>
            <a:off x="4436533" y="5549900"/>
            <a:ext cx="34185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65A"/>
                </a:solidFill>
                <a:latin typeface="IBM Plex Sans" pitchFamily="34" charset="0"/>
                <a:ea typeface="IBM Plex Sans" pitchFamily="34" charset="-122"/>
                <a:cs typeface="IBM Plex Sans" pitchFamily="34" charset="-120"/>
              </a:rPr>
              <a:t>Code of every run</a:t>
            </a:r>
            <a:endParaRPr lang="en-US" sz="1300" dirty="0"/>
          </a:p>
        </p:txBody>
      </p:sp>
      <p:sp>
        <p:nvSpPr>
          <p:cNvPr id="7" name="Text 5"/>
          <p:cNvSpPr/>
          <p:nvPr/>
        </p:nvSpPr>
        <p:spPr>
          <a:xfrm>
            <a:off x="4436533" y="5831842"/>
            <a:ext cx="34185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9EE"/>
                </a:solidFill>
                <a:latin typeface="JetBrains Mono" pitchFamily="49" charset="0"/>
                <a:ea typeface="JetBrains Mono" pitchFamily="49" charset="-122"/>
                <a:cs typeface="JetBrains Mono" pitchFamily="49" charset="-120"/>
              </a:rPr>
              <a:t>claude-code-evaluation-demo · run/*</a:t>
            </a:r>
            <a:endParaRPr lang="en-US" sz="1200" dirty="0"/>
          </a:p>
        </p:txBody>
      </p:sp>
      <p:sp>
        <p:nvSpPr>
          <p:cNvPr id="8" name="Text 6"/>
          <p:cNvSpPr/>
          <p:nvPr/>
        </p:nvSpPr>
        <p:spPr>
          <a:xfrm>
            <a:off x="8060267" y="5549900"/>
            <a:ext cx="34185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65A"/>
                </a:solidFill>
                <a:latin typeface="IBM Plex Sans" pitchFamily="34" charset="0"/>
                <a:ea typeface="IBM Plex Sans" pitchFamily="34" charset="-122"/>
                <a:cs typeface="IBM Plex Sans" pitchFamily="34" charset="-120"/>
              </a:rPr>
              <a:t>Raw data</a:t>
            </a:r>
            <a:endParaRPr lang="en-US" sz="1300" dirty="0"/>
          </a:p>
        </p:txBody>
      </p:sp>
      <p:sp>
        <p:nvSpPr>
          <p:cNvPr id="9" name="Text 7"/>
          <p:cNvSpPr/>
          <p:nvPr/>
        </p:nvSpPr>
        <p:spPr>
          <a:xfrm>
            <a:off x="8060267" y="5831842"/>
            <a:ext cx="34185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9EE"/>
                </a:solidFill>
                <a:latin typeface="JetBrains Mono" pitchFamily="49" charset="0"/>
                <a:ea typeface="JetBrains Mono" pitchFamily="49" charset="-122"/>
                <a:cs typeface="JetBrains Mono" pitchFamily="49" charset="-120"/>
              </a:rPr>
              <a:t>runs/ · prompts/ · acceptance/</a:t>
            </a:r>
            <a:endParaRPr lang="en-US" sz="1200" dirty="0"/>
          </a:p>
        </p:txBody>
      </p:sp>
    </p:spTree>
  </p:cSld>
  <p:clrMapOvr>
    <a:masterClrMapping/>
  </p:clrMapOvr>
</p:sld>
</file>

<file path=ppt/theme/theme1.xml><?xml version="1.0" encoding="utf-8"?>
<a:theme xmlns:a="http://schemas.openxmlformats.org/drawingml/2006/main" name="Claude Code Plugin Evaluation">
  <a:themeElements>
    <a:clrScheme name="Claude Code Plugin Evaluation">
      <a:dk1>
        <a:srgbClr val="16202E"/>
      </a:dk1>
      <a:lt1>
        <a:srgbClr val="F6F5F1"/>
      </a:lt1>
      <a:dk2>
        <a:srgbClr val="4E555F"/>
      </a:dk2>
      <a:lt2>
        <a:srgbClr val="E0E0DE"/>
      </a:lt2>
      <a:accent1>
        <a:srgbClr val="B4531A"/>
      </a:accent1>
      <a:accent2>
        <a:srgbClr val="F2A65A"/>
      </a:accent2>
      <a:accent3>
        <a:srgbClr val="2B63A6"/>
      </a:accent3>
      <a:accent4>
        <a:srgbClr val="22304A"/>
      </a:accent4>
      <a:accent5>
        <a:srgbClr val="7FC8A9"/>
      </a:accent5>
      <a:accent6>
        <a:srgbClr val="4A5568"/>
      </a:accent6>
      <a:hlink>
        <a:srgbClr val="0563C1"/>
      </a:hlink>
      <a:folHlink>
        <a:srgbClr val="954F72"/>
      </a:folHlink>
    </a:clrScheme>
    <a:fontScheme name="Claude Code Plugin Evalu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Plugin Evaluation</dc:title>
  <dc:subject/>
  <dc:creator/>
  <cp:lastModifiedBy/>
  <cp:revision>1</cp:revision>
  <dcterms:created xsi:type="dcterms:W3CDTF">2026-10-01T04:27:21Z</dcterms:created>
  <dcterms:modified xsi:type="dcterms:W3CDTF">2026-10-01T04:27:21Z</dcterms:modified>
</cp:coreProperties>
</file>